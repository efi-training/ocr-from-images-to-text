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63" r:id="rId5"/>
    <p:sldId id="264" r:id="rId6"/>
    <p:sldId id="266" r:id="rId7"/>
    <p:sldId id="331" r:id="rId8"/>
    <p:sldId id="477" r:id="rId9"/>
    <p:sldId id="493" r:id="rId10"/>
    <p:sldId id="464" r:id="rId11"/>
    <p:sldId id="466" r:id="rId12"/>
    <p:sldId id="462" r:id="rId13"/>
    <p:sldId id="467" r:id="rId14"/>
    <p:sldId id="468" r:id="rId15"/>
    <p:sldId id="469" r:id="rId16"/>
    <p:sldId id="465" r:id="rId17"/>
    <p:sldId id="328" r:id="rId18"/>
    <p:sldId id="329" r:id="rId19"/>
    <p:sldId id="463" r:id="rId20"/>
    <p:sldId id="485" r:id="rId21"/>
    <p:sldId id="495" r:id="rId22"/>
    <p:sldId id="496" r:id="rId23"/>
    <p:sldId id="473" r:id="rId24"/>
    <p:sldId id="474" r:id="rId25"/>
    <p:sldId id="475" r:id="rId26"/>
    <p:sldId id="478" r:id="rId27"/>
    <p:sldId id="480" r:id="rId28"/>
    <p:sldId id="487" r:id="rId29"/>
    <p:sldId id="488" r:id="rId30"/>
    <p:sldId id="489" r:id="rId31"/>
    <p:sldId id="484" r:id="rId32"/>
    <p:sldId id="269" r:id="rId33"/>
    <p:sldId id="502" r:id="rId34"/>
    <p:sldId id="497" r:id="rId35"/>
    <p:sldId id="498" r:id="rId36"/>
    <p:sldId id="500" r:id="rId37"/>
    <p:sldId id="499" r:id="rId38"/>
    <p:sldId id="490" r:id="rId39"/>
    <p:sldId id="268" r:id="rId40"/>
    <p:sldId id="482" r:id="rId41"/>
    <p:sldId id="483" r:id="rId42"/>
    <p:sldId id="312" r:id="rId43"/>
    <p:sldId id="315" r:id="rId44"/>
    <p:sldId id="316" r:id="rId4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0"/>
    <p:restoredTop sz="94668"/>
  </p:normalViewPr>
  <p:slideViewPr>
    <p:cSldViewPr snapToGrid="0">
      <p:cViewPr varScale="1">
        <p:scale>
          <a:sx n="53" d="100"/>
          <a:sy n="53" d="100"/>
        </p:scale>
        <p:origin x="2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08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F82F-8347-6E8B-4A84-65C8EC51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500E2-FFA1-274C-6752-EEFA7BA15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9ABAC-B293-B121-46CA-0751A7DA2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7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E4B57E4-41C4-2E59-D000-214E4F77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416" y="120134"/>
            <a:ext cx="6928705" cy="1732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E8AC0-365C-0B74-0C36-8189C4D376B0}"/>
              </a:ext>
            </a:extLst>
          </p:cNvPr>
          <p:cNvGrpSpPr/>
          <p:nvPr userDrawn="1"/>
        </p:nvGrpSpPr>
        <p:grpSpPr>
          <a:xfrm flipH="1">
            <a:off x="5170902" y="12171374"/>
            <a:ext cx="19483262" cy="1762721"/>
            <a:chOff x="0" y="12381483"/>
            <a:chExt cx="19483262" cy="1423702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0567CD4-8E34-FF0C-A65A-267EF9B46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4909914-5A0A-D6E8-84B3-CAA53226B0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667BDE9-ECD8-61DE-5479-2B3E3D5CD7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10862" y="12406153"/>
              <a:ext cx="7772400" cy="139903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8DCA3A-B030-9CA1-0C37-3C057A57F1C0}"/>
              </a:ext>
            </a:extLst>
          </p:cNvPr>
          <p:cNvGrpSpPr/>
          <p:nvPr userDrawn="1"/>
        </p:nvGrpSpPr>
        <p:grpSpPr>
          <a:xfrm flipV="1">
            <a:off x="-2001816" y="-156680"/>
            <a:ext cx="19545609" cy="2008990"/>
            <a:chOff x="0" y="12351959"/>
            <a:chExt cx="19545609" cy="142855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65F3EB2-2C64-E529-94C8-57F409C39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A2692AE-5BB3-11E0-CB21-EB797BCE8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C24B781-9AC9-4E77-6290-80870D5F5A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73209" y="12351959"/>
              <a:ext cx="7772400" cy="139903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ssions Throughout  the course">
            <a:extLst>
              <a:ext uri="{FF2B5EF4-FFF2-40B4-BE49-F238E27FC236}">
                <a16:creationId xmlns:a16="http://schemas.microsoft.com/office/drawing/2014/main" id="{3DD2EE4F-7580-1683-B89C-0171A858274C}"/>
              </a:ext>
            </a:extLst>
          </p:cNvPr>
          <p:cNvSpPr txBox="1"/>
          <p:nvPr userDrawn="1"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E5C2D-BCB6-5575-E08E-C615B6B0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9CE852-4CAB-4844-011F-8894CBBE7E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7641" y="873289"/>
            <a:ext cx="5713725" cy="14284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D901C3-12E4-7385-39D0-865949AB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/>
          <a:lstStyle>
            <a:lvl1pPr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387F5A-544D-69F0-5B42-F124C027D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737" y="857568"/>
            <a:ext cx="5713725" cy="14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87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6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immarkus.xmarkus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inghistorian.org/en/lessons/cleaning-ocrd-text-with-regular-expressions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librarycarpentry.org/lc-data-intro/01-regular-expressions/" TargetMode="External"/><Relationship Id="rId4" Type="http://schemas.openxmlformats.org/officeDocument/2006/relationships/hyperlink" Target="https://programminghistorian.org/en/lessons/understanding-regular-expressions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edin.ac/45BpZF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C723DAB-1AAD-C98B-5A9C-D013F15D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44"/>
          <a:stretch>
            <a:fillRect/>
          </a:stretch>
        </p:blipFill>
        <p:spPr>
          <a:xfrm>
            <a:off x="-762000" y="1"/>
            <a:ext cx="22934835" cy="13716000"/>
          </a:xfrm>
          <a:prstGeom prst="rect">
            <a:avLst/>
          </a:prstGeom>
        </p:spPr>
      </p:pic>
      <p:pic>
        <p:nvPicPr>
          <p:cNvPr id="175" name="Edinburgh Futures Institute_logo_linear_white.png" descr="Edinburgh Futures Institute_logo_lin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323" y="1754362"/>
            <a:ext cx="7618172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06A058-BFF8-E048-5818-3AD0529D097C}"/>
              </a:ext>
            </a:extLst>
          </p:cNvPr>
          <p:cNvSpPr txBox="1"/>
          <p:nvPr/>
        </p:nvSpPr>
        <p:spPr>
          <a:xfrm>
            <a:off x="536005" y="9053149"/>
            <a:ext cx="2222766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Instructors	Joy Lan PhD Candidate Moray House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rrangements for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Arrangements for 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the COURSE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1"/>
          <p:cNvGraphicFramePr/>
          <p:nvPr>
            <p:extLst>
              <p:ext uri="{D42A27DB-BD31-4B8C-83A1-F6EECF244321}">
                <p14:modId xmlns:p14="http://schemas.microsoft.com/office/powerpoint/2010/main" val="3287108757"/>
              </p:ext>
            </p:extLst>
          </p:nvPr>
        </p:nvGraphicFramePr>
        <p:xfrm>
          <a:off x="1339900" y="1276350"/>
          <a:ext cx="21428660" cy="1058037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2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3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Time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1 </a:t>
                      </a:r>
                      <a:endParaRPr lang="en-GB" sz="4000" b="1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28th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(Wed)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2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
4th November (Wed)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005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Introduction to OCR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Activity: OCR tools – </a:t>
                      </a:r>
                      <a:r>
                        <a:rPr lang="en-GB" sz="4400" dirty="0" err="1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Immarkus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marR="0" lvl="0" indent="-28575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Challenges of OCR in practice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Review of programming basics 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Introduction to OCR packages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Working with OCR in Python &amp; R</a:t>
                      </a:r>
                      <a:endParaRPr sz="4400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/>
          <p:cNvSpPr txBox="1"/>
          <p:nvPr/>
        </p:nvSpPr>
        <p:spPr>
          <a:xfrm>
            <a:off x="2004438" y="6110391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Introduction to </a:t>
            </a:r>
            <a:r>
              <a:rPr lang="en-GB" dirty="0"/>
              <a:t>OCR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rogramming = Telling the computer what to do…"/>
          <p:cNvSpPr txBox="1"/>
          <p:nvPr/>
        </p:nvSpPr>
        <p:spPr>
          <a:xfrm>
            <a:off x="2944922" y="1420614"/>
            <a:ext cx="18494156" cy="1087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>
                <a:solidFill>
                  <a:srgbClr val="C00000"/>
                </a:solidFill>
              </a:rPr>
              <a:t>O</a:t>
            </a:r>
            <a:r>
              <a:rPr lang="en-GB" dirty="0"/>
              <a:t>ptical </a:t>
            </a:r>
            <a:r>
              <a:rPr lang="en-GB" dirty="0">
                <a:solidFill>
                  <a:srgbClr val="C00000"/>
                </a:solidFill>
              </a:rPr>
              <a:t>C</a:t>
            </a:r>
            <a:r>
              <a:rPr lang="en-GB" dirty="0"/>
              <a:t>haracter </a:t>
            </a:r>
            <a:r>
              <a:rPr lang="en-GB" dirty="0">
                <a:solidFill>
                  <a:srgbClr val="C00000"/>
                </a:solidFill>
              </a:rPr>
              <a:t>R</a:t>
            </a:r>
            <a:r>
              <a:rPr lang="en-GB" dirty="0"/>
              <a:t>ecognition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OCR is the technique to process images of text, such as written or printed documents, and produce machine-readable documents.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/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7A9288-A904-19DB-7062-AEA9C7E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E390B-8C9B-E1FB-D47E-CE5C0525788C}"/>
              </a:ext>
            </a:extLst>
          </p:cNvPr>
          <p:cNvSpPr txBox="1"/>
          <p:nvPr/>
        </p:nvSpPr>
        <p:spPr>
          <a:xfrm>
            <a:off x="234967" y="14242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D2FCE-FDB9-5D01-412C-CD41AD177C8F}"/>
              </a:ext>
            </a:extLst>
          </p:cNvPr>
          <p:cNvSpPr txBox="1"/>
          <p:nvPr/>
        </p:nvSpPr>
        <p:spPr>
          <a:xfrm>
            <a:off x="667820" y="1885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214FF-E8BC-51C5-7F54-2F28363EE6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070" y="6087562"/>
            <a:ext cx="3403046" cy="682569"/>
          </a:xfrm>
          <a:prstGeom prst="rect">
            <a:avLst/>
          </a:prstGeom>
          <a:noFill/>
        </p:spPr>
      </p:pic>
      <p:pic>
        <p:nvPicPr>
          <p:cNvPr id="12" name="Picture 11" descr="Live Text works inside word processors">
            <a:extLst>
              <a:ext uri="{FF2B5EF4-FFF2-40B4-BE49-F238E27FC236}">
                <a16:creationId xmlns:a16="http://schemas.microsoft.com/office/drawing/2014/main" id="{E1837CB5-6F54-1B7B-749E-88F394CAEA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41" r="20599" b="170"/>
          <a:stretch>
            <a:fillRect/>
          </a:stretch>
        </p:blipFill>
        <p:spPr>
          <a:xfrm>
            <a:off x="17824942" y="2637351"/>
            <a:ext cx="5572447" cy="10394682"/>
          </a:xfrm>
          <a:prstGeom prst="rect">
            <a:avLst/>
          </a:prstGeom>
        </p:spPr>
      </p:pic>
      <p:sp>
        <p:nvSpPr>
          <p:cNvPr id="13" name="Programming = Telling the computer what to do…">
            <a:extLst>
              <a:ext uri="{FF2B5EF4-FFF2-40B4-BE49-F238E27FC236}">
                <a16:creationId xmlns:a16="http://schemas.microsoft.com/office/drawing/2014/main" id="{E00E8EC3-F013-A9C7-89D2-59078CEC986D}"/>
              </a:ext>
            </a:extLst>
          </p:cNvPr>
          <p:cNvSpPr txBox="1"/>
          <p:nvPr/>
        </p:nvSpPr>
        <p:spPr>
          <a:xfrm>
            <a:off x="852551" y="3944652"/>
            <a:ext cx="16624691" cy="7780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85725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Scanning your passport at the airport.</a:t>
            </a:r>
            <a:endParaRPr lang="en-US" sz="6600" dirty="0">
              <a:ea typeface="+mn-lt"/>
              <a:cs typeface="+mn-lt"/>
            </a:endParaRPr>
          </a:p>
          <a:p>
            <a:pPr marL="85725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Generate machine-readable text for text-to-speech technology.</a:t>
            </a:r>
            <a:endParaRPr lang="en-US" sz="3200" dirty="0"/>
          </a:p>
          <a:p>
            <a:pPr marL="85725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Making physical archives searchable. </a:t>
            </a:r>
            <a:endParaRPr lang="en-US" sz="3200" dirty="0"/>
          </a:p>
          <a:p>
            <a:pPr marL="857250" indent="-8572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Creating a dataset of for text mining or text analysis. </a:t>
            </a:r>
            <a:endParaRPr lang="en-US" sz="32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9595-F651-8B0A-1C62-189B4DAE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OCR Workflow</a:t>
            </a: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EFB4808D-DF66-0374-F364-B215FE36C9C2}"/>
              </a:ext>
            </a:extLst>
          </p:cNvPr>
          <p:cNvSpPr txBox="1"/>
          <p:nvPr/>
        </p:nvSpPr>
        <p:spPr>
          <a:xfrm>
            <a:off x="1212749" y="1831282"/>
            <a:ext cx="21092160" cy="10813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</a:pPr>
            <a:endParaRPr lang="en-US" sz="4400" dirty="0">
              <a:solidFill>
                <a:srgbClr val="002E5F"/>
              </a:solidFill>
              <a:ea typeface="+mn-lt"/>
              <a:cs typeface="+mn-lt"/>
            </a:endParaRPr>
          </a:p>
          <a:p>
            <a:pPr marL="742950" indent="-742950">
              <a:lnSpc>
                <a:spcPct val="100000"/>
              </a:lnSpc>
              <a:buAutoNum type="alphaUcPeriod"/>
            </a:pPr>
            <a:r>
              <a:rPr lang="en-US" sz="4400" b="1" dirty="0">
                <a:solidFill>
                  <a:srgbClr val="002E5F"/>
                </a:solidFill>
                <a:ea typeface="+mn-lt"/>
                <a:cs typeface="+mn-lt"/>
              </a:rPr>
              <a:t>Before OCR: inspect the image and preprocessing</a:t>
            </a:r>
          </a:p>
          <a:p>
            <a:pPr marL="571500" lvl="5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2E5F"/>
                </a:solidFill>
                <a:ea typeface="+mn-lt"/>
                <a:cs typeface="+mn-lt"/>
              </a:rPr>
              <a:t>Inspect the data, and identify different source of error</a:t>
            </a:r>
          </a:p>
          <a:p>
            <a:pPr marL="571500" lvl="5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2E5F"/>
                </a:solidFill>
                <a:ea typeface="+mn-lt"/>
                <a:cs typeface="+mn-lt"/>
              </a:rPr>
              <a:t>Preprocess the data to get better results	</a:t>
            </a:r>
          </a:p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2E5F"/>
                </a:solidFill>
                <a:ea typeface="+mn-lt"/>
                <a:cs typeface="+mn-lt"/>
              </a:rPr>
              <a:t>B. Applying OCR: choose the right methods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2E5F"/>
                </a:solidFill>
                <a:ea typeface="+mn-lt"/>
                <a:cs typeface="+mn-lt"/>
              </a:rPr>
              <a:t>language packages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2E5F"/>
                </a:solidFill>
                <a:ea typeface="+mn-lt"/>
                <a:cs typeface="+mn-lt"/>
              </a:rPr>
              <a:t>Fonts, text orientation and layout, stains, contrast, etc.</a:t>
            </a:r>
          </a:p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2E5F"/>
                </a:solidFill>
                <a:ea typeface="+mn-lt"/>
                <a:cs typeface="+mn-lt"/>
              </a:rPr>
              <a:t>C. After OCR: clean up the text</a:t>
            </a:r>
          </a:p>
          <a:p>
            <a:pPr marL="5715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2E5F"/>
                </a:solidFill>
                <a:ea typeface="+mn-lt"/>
                <a:cs typeface="+mn-lt"/>
              </a:rPr>
              <a:t>Patching: Clean up the missing data and error using Regex (optional)</a:t>
            </a:r>
            <a:endParaRPr lang="en-US" sz="4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45800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1390-5408-4403-1F05-57E349D8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C4B842E5-5B37-C540-6751-167DBF9A7135}"/>
              </a:ext>
            </a:extLst>
          </p:cNvPr>
          <p:cNvSpPr txBox="1"/>
          <p:nvPr/>
        </p:nvSpPr>
        <p:spPr>
          <a:xfrm>
            <a:off x="2004438" y="6110391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Activity: Ready made OCR tool</a:t>
            </a:r>
          </a:p>
        </p:txBody>
      </p:sp>
    </p:spTree>
    <p:extLst>
      <p:ext uri="{BB962C8B-B14F-4D97-AF65-F5344CB8AC3E}">
        <p14:creationId xmlns:p14="http://schemas.microsoft.com/office/powerpoint/2010/main" val="12374573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DA0F-126C-A393-B497-25F5532D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6E42-8FBC-A00E-29E8-38BAE383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ready-made OCR tools</a:t>
            </a: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A4182308-24E7-757B-53F6-ECDC1CAAB078}"/>
              </a:ext>
            </a:extLst>
          </p:cNvPr>
          <p:cNvSpPr txBox="1"/>
          <p:nvPr/>
        </p:nvSpPr>
        <p:spPr>
          <a:xfrm>
            <a:off x="2103120" y="3179807"/>
            <a:ext cx="20543520" cy="9792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Choose a pdf containing images of text and use some these web-based tools to extract text:</a:t>
            </a:r>
          </a:p>
          <a:p>
            <a:r>
              <a:rPr lang="en-US" dirty="0">
                <a:solidFill>
                  <a:srgbClr val="002E5F"/>
                </a:solidFill>
                <a:ea typeface="+mn-lt"/>
                <a:cs typeface="+mn-lt"/>
              </a:rPr>
              <a:t>(it can be either your own or from the course </a:t>
            </a:r>
            <a:r>
              <a:rPr lang="en-US" dirty="0" err="1">
                <a:solidFill>
                  <a:srgbClr val="002E5F"/>
                </a:solidFill>
                <a:ea typeface="+mn-lt"/>
                <a:cs typeface="+mn-lt"/>
              </a:rPr>
              <a:t>github</a:t>
            </a:r>
            <a:r>
              <a:rPr lang="en-US" dirty="0">
                <a:solidFill>
                  <a:srgbClr val="002E5F"/>
                </a:solidFill>
                <a:ea typeface="+mn-lt"/>
                <a:cs typeface="+mn-lt"/>
              </a:rPr>
              <a:t> repo)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https://tools.pdf24.org/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en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ocr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-pdf 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www.onlineocr.net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 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www.sodapdf.com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ocr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-pdf/ 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www.sejda.com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ocr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-pdf 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ocr.space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 </a:t>
            </a:r>
          </a:p>
          <a:p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https://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avepdf.com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/pdf-</a:t>
            </a:r>
            <a:r>
              <a:rPr lang="en-US" sz="3600" dirty="0" err="1">
                <a:solidFill>
                  <a:srgbClr val="002E5F"/>
                </a:solidFill>
                <a:ea typeface="+mn-lt"/>
                <a:cs typeface="+mn-lt"/>
              </a:rPr>
              <a:t>ocr</a:t>
            </a:r>
            <a:r>
              <a:rPr lang="en-US" sz="3600" dirty="0">
                <a:solidFill>
                  <a:srgbClr val="002E5F"/>
                </a:solidFill>
                <a:ea typeface="+mn-lt"/>
                <a:cs typeface="+mn-lt"/>
              </a:rPr>
              <a:t> </a:t>
            </a:r>
            <a:endParaRPr lang="en-US" sz="6600" dirty="0">
              <a:solidFill>
                <a:srgbClr val="002E5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312466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B53F-1054-217E-4073-A50047E2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280F3A1A-32B6-598E-2879-F24F40C50CF1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Age and damage (stained 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  <a:endParaRPr lang="en-US" sz="6600" dirty="0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D20291-3E7D-19C7-E0EC-D55AE845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5338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4B2F3-4DC9-6034-F1B4-17373F37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8C2F-6AFE-7EA6-2F1C-A3C57A99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Stained archive</a:t>
            </a:r>
          </a:p>
        </p:txBody>
      </p:sp>
      <p:pic>
        <p:nvPicPr>
          <p:cNvPr id="4" name="Picture 3" descr="A document with text on it&#10;&#10;AI-generated content may be incorrect.">
            <a:extLst>
              <a:ext uri="{FF2B5EF4-FFF2-40B4-BE49-F238E27FC236}">
                <a16:creationId xmlns:a16="http://schemas.microsoft.com/office/drawing/2014/main" id="{C73FCDA8-2876-F197-BFCC-96E92B096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86" y="2637350"/>
            <a:ext cx="8141554" cy="10643399"/>
          </a:xfrm>
          <a:prstGeom prst="rect">
            <a:avLst/>
          </a:prstGeom>
        </p:spPr>
      </p:pic>
      <p:pic>
        <p:nvPicPr>
          <p:cNvPr id="5124" name="Picture 4" descr="11,900+ Old Book Text Stock Photos and Royalty-Free Pictures - iStock">
            <a:extLst>
              <a:ext uri="{FF2B5EF4-FFF2-40B4-BE49-F238E27FC236}">
                <a16:creationId xmlns:a16="http://schemas.microsoft.com/office/drawing/2014/main" id="{154E4104-9901-49FB-CCB3-513D30C4E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155" y="2362828"/>
            <a:ext cx="8032555" cy="11353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74575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225A5-A433-D55A-AD83-779AF83E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132BBBCB-E5FB-4856-D816-152568128B41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Cursive fonts, 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486C41-A908-5FCA-455D-375FF59A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2DB41DC-8FE4-9B95-9CF4-2B87DA0CFD43}"/>
              </a:ext>
            </a:extLst>
          </p:cNvPr>
          <p:cNvSpPr txBox="1">
            <a:spLocks/>
          </p:cNvSpPr>
          <p:nvPr/>
        </p:nvSpPr>
        <p:spPr>
          <a:xfrm>
            <a:off x="1352651" y="1356588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880919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621E-E135-6110-7E67-8FDA9489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FB3B-FA80-856D-3390-6B5FEF09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Pictures and multi-languages</a:t>
            </a:r>
          </a:p>
        </p:txBody>
      </p:sp>
      <p:pic>
        <p:nvPicPr>
          <p:cNvPr id="6146" name="Picture 2" descr="PPT - Spanglish: Popular myths and linguistic reality PowerPoint Presentation - ID:216445">
            <a:extLst>
              <a:ext uri="{FF2B5EF4-FFF2-40B4-BE49-F238E27FC236}">
                <a16:creationId xmlns:a16="http://schemas.microsoft.com/office/drawing/2014/main" id="{195E3F80-525C-96CB-8AF6-B8DBEE6C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1122" y="3017520"/>
            <a:ext cx="130048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advertisement of a person smoking&#10;&#10;AI-generated content may be incorrect.">
            <a:extLst>
              <a:ext uri="{FF2B5EF4-FFF2-40B4-BE49-F238E27FC236}">
                <a16:creationId xmlns:a16="http://schemas.microsoft.com/office/drawing/2014/main" id="{EC9F3CB2-8958-39D6-9E7A-DBB53491F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730" y="2407920"/>
            <a:ext cx="8185150" cy="1085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3228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FA56-8D65-1BF9-AE9C-FD4E3E06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DF97-C08D-797B-C8ED-B591AB3E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D5C65430-DE06-D442-CD10-2668E2DC48B4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chemeClr val="tx1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Cursive fonts, 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</a:p>
        </p:txBody>
      </p:sp>
    </p:spTree>
    <p:extLst>
      <p:ext uri="{BB962C8B-B14F-4D97-AF65-F5344CB8AC3E}">
        <p14:creationId xmlns:p14="http://schemas.microsoft.com/office/powerpoint/2010/main" val="95387526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482A-91EC-75D2-6639-8BC5E5C4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A492-7F9D-A157-26B6-798603F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Cursive fonts, Handwritings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01718816-957C-814C-0385-5C2BBBD9A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755" y="2637351"/>
            <a:ext cx="11352763" cy="1470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rchBook: Architectures of the Book -- Table of Contents">
            <a:extLst>
              <a:ext uri="{FF2B5EF4-FFF2-40B4-BE49-F238E27FC236}">
                <a16:creationId xmlns:a16="http://schemas.microsoft.com/office/drawing/2014/main" id="{D6318A9A-5FC7-4348-0595-624B924B3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30" y="2407920"/>
            <a:ext cx="8443913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87862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17BE-F13F-3BB2-D3B2-78609F72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8837-875B-7C51-49D9-FC9AB4EB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9600" dirty="0">
                <a:latin typeface="Verdana Pro Cond"/>
                <a:ea typeface="+mn-lt"/>
                <a:cs typeface="+mn-lt"/>
              </a:rPr>
              <a:t> </a:t>
            </a:r>
            <a:r>
              <a:rPr lang="en-GB" sz="9600" dirty="0"/>
              <a:t>Challenges of OCR</a:t>
            </a:r>
            <a:endParaRPr lang="en-US" sz="9600" dirty="0">
              <a:ea typeface="Calibri"/>
              <a:cs typeface="Calibri"/>
            </a:endParaRP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5B9973A7-77A9-FE52-9A93-776D86AF4E07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  <a:endParaRPr lang="en-US" sz="6600" dirty="0">
              <a:solidFill>
                <a:srgbClr val="C00000"/>
              </a:solidFill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Human errors and typos</a:t>
            </a:r>
            <a:endParaRPr lang="en-US" sz="6600" dirty="0">
              <a:solidFill>
                <a:srgbClr val="002E5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72738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BFEF-6623-90B8-C7C7-83A6B8C8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>
            <a:extLst>
              <a:ext uri="{FF2B5EF4-FFF2-40B4-BE49-F238E27FC236}">
                <a16:creationId xmlns:a16="http://schemas.microsoft.com/office/drawing/2014/main" id="{7F5CAD49-8B3C-5C1B-95B3-1B2989C2DE97}"/>
              </a:ext>
            </a:extLst>
          </p:cNvPr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66AD8D-047B-D082-200B-007B7164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Errors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1C6A6-C9E7-06B3-9363-CDFA687EA8FB}"/>
              </a:ext>
            </a:extLst>
          </p:cNvPr>
          <p:cNvSpPr txBox="1"/>
          <p:nvPr/>
        </p:nvSpPr>
        <p:spPr>
          <a:xfrm>
            <a:off x="234967" y="14242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76BDF-16B3-AA40-47CF-5BCEC2CD418A}"/>
              </a:ext>
            </a:extLst>
          </p:cNvPr>
          <p:cNvSpPr txBox="1"/>
          <p:nvPr/>
        </p:nvSpPr>
        <p:spPr>
          <a:xfrm>
            <a:off x="667820" y="1885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02D3E0-C297-AA48-394C-E201E45A4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070" y="6087562"/>
            <a:ext cx="3403046" cy="682569"/>
          </a:xfrm>
          <a:prstGeom prst="rect">
            <a:avLst/>
          </a:prstGeom>
          <a:noFill/>
        </p:spPr>
      </p:pic>
      <p:pic>
        <p:nvPicPr>
          <p:cNvPr id="26" name="Picture 25" descr="A sign with white text&#10;&#10;AI-generated content may be incorrect.">
            <a:extLst>
              <a:ext uri="{FF2B5EF4-FFF2-40B4-BE49-F238E27FC236}">
                <a16:creationId xmlns:a16="http://schemas.microsoft.com/office/drawing/2014/main" id="{92E21B67-0826-69AD-DDCD-4456E117A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122" y="3411220"/>
            <a:ext cx="15461755" cy="85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438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00AC-233E-9738-ADF0-9168E7F9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Errors - example</a:t>
            </a:r>
          </a:p>
        </p:txBody>
      </p:sp>
      <p:pic>
        <p:nvPicPr>
          <p:cNvPr id="3074" name="Picture 2" descr="User attachment">
            <a:extLst>
              <a:ext uri="{FF2B5EF4-FFF2-40B4-BE49-F238E27FC236}">
                <a16:creationId xmlns:a16="http://schemas.microsoft.com/office/drawing/2014/main" id="{63152840-7799-AEF6-8872-5953A6FB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420" y="3043587"/>
            <a:ext cx="13599160" cy="1019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42963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3D41E-DBFC-A391-E051-304DE913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95E-363A-1B84-E1E1-0F08A40B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Errors - example</a:t>
            </a:r>
          </a:p>
        </p:txBody>
      </p:sp>
      <p:pic>
        <p:nvPicPr>
          <p:cNvPr id="4098" name="Picture 2" descr="American road painters were left red-faced after they painstakingly inked the world 'SHCOOL' outside a high school in North Carolina. ">
            <a:extLst>
              <a:ext uri="{FF2B5EF4-FFF2-40B4-BE49-F238E27FC236}">
                <a16:creationId xmlns:a16="http://schemas.microsoft.com/office/drawing/2014/main" id="{478AF45F-B565-430C-2A76-01976364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240" y="3167004"/>
            <a:ext cx="15143480" cy="948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48672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48F6-9226-1D62-9724-50647F8C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>
            <a:extLst>
              <a:ext uri="{FF2B5EF4-FFF2-40B4-BE49-F238E27FC236}">
                <a16:creationId xmlns:a16="http://schemas.microsoft.com/office/drawing/2014/main" id="{3B793C2E-8E46-9F4B-924D-657EBE8F4C83}"/>
              </a:ext>
            </a:extLst>
          </p:cNvPr>
          <p:cNvSpPr txBox="1"/>
          <p:nvPr/>
        </p:nvSpPr>
        <p:spPr>
          <a:xfrm>
            <a:off x="1892055" y="4590713"/>
            <a:ext cx="21971000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9600" dirty="0"/>
              <a:t>There is no best solution or software to perform OCR, but there are a few ways to improve OCR results.</a:t>
            </a:r>
          </a:p>
        </p:txBody>
      </p:sp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3006D67A-EC35-1DF1-1F40-3931DC106CA6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721198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65B5-C546-8A0F-B093-F1332B01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9DE8-2CB7-CF9F-ADBC-4822B4C8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Ways to improve OCR results</a:t>
            </a:r>
            <a:endParaRPr lang="en-US" sz="9600" dirty="0">
              <a:ea typeface="Calibri"/>
              <a:cs typeface="Calibri"/>
            </a:endParaRP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8C5C76F5-73CD-5F70-AA56-DC89EA04E460}"/>
              </a:ext>
            </a:extLst>
          </p:cNvPr>
          <p:cNvSpPr txBox="1"/>
          <p:nvPr/>
        </p:nvSpPr>
        <p:spPr>
          <a:xfrm>
            <a:off x="1639671" y="4813927"/>
            <a:ext cx="21092160" cy="549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Select good quality dataset to begin with​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Improve OCR tool capability​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Pre-process your dataset to improve its quality​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Correct errors in OCR-produced files</a:t>
            </a:r>
          </a:p>
        </p:txBody>
      </p:sp>
    </p:spTree>
    <p:extLst>
      <p:ext uri="{BB962C8B-B14F-4D97-AF65-F5344CB8AC3E}">
        <p14:creationId xmlns:p14="http://schemas.microsoft.com/office/powerpoint/2010/main" val="114223932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6440-F7C1-5E26-49EA-F76CF71F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84DB-E0E5-B912-4DF2-8D35D307A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Ways to improve OCR results</a:t>
            </a:r>
            <a:endParaRPr lang="en-US" sz="9600" dirty="0">
              <a:ea typeface="Calibri"/>
              <a:cs typeface="Calibri"/>
            </a:endParaRP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FF9D77E0-ED6D-0581-EA86-24A789108D29}"/>
              </a:ext>
            </a:extLst>
          </p:cNvPr>
          <p:cNvSpPr txBox="1"/>
          <p:nvPr/>
        </p:nvSpPr>
        <p:spPr>
          <a:xfrm>
            <a:off x="1639671" y="4813927"/>
            <a:ext cx="21092160" cy="549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Select good quality dataset to begin with​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Improve OCR tool capability​(AI-powered)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Pre-process your dataset to improve its quality​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Correct errors in OCR-produced files</a:t>
            </a:r>
          </a:p>
        </p:txBody>
      </p:sp>
    </p:spTree>
    <p:extLst>
      <p:ext uri="{BB962C8B-B14F-4D97-AF65-F5344CB8AC3E}">
        <p14:creationId xmlns:p14="http://schemas.microsoft.com/office/powerpoint/2010/main" val="38297428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B852-D0E3-F533-3EA6-54E2D3A0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11BB-32A0-E394-395B-B00E1A26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5499B-724C-88FC-0826-8778331AB348}"/>
              </a:ext>
            </a:extLst>
          </p:cNvPr>
          <p:cNvSpPr txBox="1"/>
          <p:nvPr/>
        </p:nvSpPr>
        <p:spPr>
          <a:xfrm>
            <a:off x="545743" y="2637351"/>
            <a:ext cx="23838257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Download the dataset from </a:t>
            </a:r>
            <a:r>
              <a:rPr lang="en-US" sz="6600" dirty="0" err="1">
                <a:solidFill>
                  <a:srgbClr val="C00000"/>
                </a:solidFill>
              </a:rPr>
              <a:t>github</a:t>
            </a:r>
            <a:r>
              <a:rPr lang="en-US" sz="6600" dirty="0">
                <a:solidFill>
                  <a:srgbClr val="C00000"/>
                </a:solidFill>
              </a:rPr>
              <a:t> repo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Go to </a:t>
            </a:r>
            <a:r>
              <a:rPr lang="en-US" sz="6600" dirty="0">
                <a:hlinkClick r:id="rId2"/>
              </a:rPr>
              <a:t>https://immarkus.xmarkus.org/</a:t>
            </a:r>
            <a:endParaRPr lang="en-US" sz="6600" dirty="0"/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Click on Open New Folder, select the folder ”OCR dataset” </a:t>
            </a:r>
          </a:p>
          <a:p>
            <a:pPr marL="1143000" indent="-1143000">
              <a:buAutoNum type="arabicPeriod"/>
            </a:pPr>
            <a:endParaRPr kumimoji="0" lang="en-US" sz="66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A6985-A619-342E-56F3-A51A598C3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4" t="24932" r="11729" b="23333"/>
          <a:stretch>
            <a:fillRect/>
          </a:stretch>
        </p:blipFill>
        <p:spPr>
          <a:xfrm>
            <a:off x="1088315" y="7510554"/>
            <a:ext cx="11708382" cy="5169125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B0B84E8D-BE3E-0542-F677-DE88B15ADBF1}"/>
              </a:ext>
            </a:extLst>
          </p:cNvPr>
          <p:cNvSpPr/>
          <p:nvPr/>
        </p:nvSpPr>
        <p:spPr>
          <a:xfrm>
            <a:off x="2764716" y="9022080"/>
            <a:ext cx="5334000" cy="1578646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Picture 6" descr="A screenshot of a black box with white text&#10;&#10;AI-generated content may be incorrect.">
            <a:extLst>
              <a:ext uri="{FF2B5EF4-FFF2-40B4-BE49-F238E27FC236}">
                <a16:creationId xmlns:a16="http://schemas.microsoft.com/office/drawing/2014/main" id="{57623562-575D-199F-CBD4-5085EE6F9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27" y="7675428"/>
            <a:ext cx="12027230" cy="4161320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674F87A5-543A-702F-4D5E-42AFB8289BCA}"/>
              </a:ext>
            </a:extLst>
          </p:cNvPr>
          <p:cNvSpPr/>
          <p:nvPr/>
        </p:nvSpPr>
        <p:spPr>
          <a:xfrm>
            <a:off x="19992368" y="9538238"/>
            <a:ext cx="3411572" cy="1977197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A9A12-3AB3-1AE8-4498-24CA612F6CBF}"/>
              </a:ext>
            </a:extLst>
          </p:cNvPr>
          <p:cNvSpPr txBox="1"/>
          <p:nvPr/>
        </p:nvSpPr>
        <p:spPr>
          <a:xfrm>
            <a:off x="18941083" y="11461329"/>
            <a:ext cx="4897174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Click “allow”</a:t>
            </a:r>
          </a:p>
        </p:txBody>
      </p:sp>
    </p:spTree>
    <p:extLst>
      <p:ext uri="{BB962C8B-B14F-4D97-AF65-F5344CB8AC3E}">
        <p14:creationId xmlns:p14="http://schemas.microsoft.com/office/powerpoint/2010/main" val="243602583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118D-AC22-8B1E-AC38-B4A3C325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68A8-F902-1D83-813A-0D37FF53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96BDE32-A013-CECB-4158-89128DE9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51" y="2637351"/>
            <a:ext cx="5196840" cy="10845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BF837-7B07-B466-71AE-4AE3D1481973}"/>
              </a:ext>
            </a:extLst>
          </p:cNvPr>
          <p:cNvSpPr txBox="1"/>
          <p:nvPr/>
        </p:nvSpPr>
        <p:spPr>
          <a:xfrm>
            <a:off x="7254240" y="2637351"/>
            <a:ext cx="17129760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Click on the magic wand icon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Auto Transcribe</a:t>
            </a:r>
          </a:p>
          <a:p>
            <a:pPr marL="1143000" indent="-1143000">
              <a:buAutoNum type="arabicPeriod"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</a:t>
            </a:r>
            <a:r>
              <a:rPr lang="en-US" sz="6600" dirty="0">
                <a:solidFill>
                  <a:srgbClr val="C00000"/>
                </a:solidFill>
              </a:rPr>
              <a:t>heck enable external AI tools</a:t>
            </a:r>
          </a:p>
          <a:p>
            <a:pPr marL="1143000" indent="-1143000">
              <a:buAutoNum type="arabicPeriod"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Select Service</a:t>
            </a:r>
          </a:p>
        </p:txBody>
      </p:sp>
    </p:spTree>
    <p:extLst>
      <p:ext uri="{BB962C8B-B14F-4D97-AF65-F5344CB8AC3E}">
        <p14:creationId xmlns:p14="http://schemas.microsoft.com/office/powerpoint/2010/main" val="99677779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C48C-B13D-4B58-1467-9A10FEFB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85B9-4FB8-385C-1FDA-7CFBD957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74F8E-852F-90F6-1FFC-84BF9CDA3D8A}"/>
              </a:ext>
            </a:extLst>
          </p:cNvPr>
          <p:cNvSpPr txBox="1"/>
          <p:nvPr/>
        </p:nvSpPr>
        <p:spPr>
          <a:xfrm>
            <a:off x="7254240" y="2637351"/>
            <a:ext cx="17129760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Select </a:t>
            </a:r>
            <a:r>
              <a:rPr lang="en-US" sz="6600" dirty="0" err="1">
                <a:solidFill>
                  <a:srgbClr val="C00000"/>
                </a:solidFill>
              </a:rPr>
              <a:t>OCR.space</a:t>
            </a:r>
            <a:r>
              <a:rPr lang="en-US" sz="6600" dirty="0">
                <a:solidFill>
                  <a:srgbClr val="C00000"/>
                </a:solidFill>
              </a:rPr>
              <a:t> (free)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Choose content language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Run Transcription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Import to </a:t>
            </a:r>
            <a:r>
              <a:rPr lang="en-US" sz="6600" dirty="0" err="1">
                <a:solidFill>
                  <a:srgbClr val="C00000"/>
                </a:solidFill>
              </a:rPr>
              <a:t>Immarkus</a:t>
            </a:r>
            <a:endParaRPr lang="en-US" sz="6600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B66410-3C8C-5367-2C15-CA90C9AF1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" y="2637350"/>
            <a:ext cx="6474460" cy="1086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507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EE37-35A7-398A-3F8E-113440A1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87E8-37AB-85F6-6065-94593825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4AA82-EE1F-42EA-8FBD-9BBD22C88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6" y="2637350"/>
            <a:ext cx="20080554" cy="10639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B1FAE-0594-1D77-AFD1-1DABB2E17FAA}"/>
              </a:ext>
            </a:extLst>
          </p:cNvPr>
          <p:cNvSpPr txBox="1"/>
          <p:nvPr/>
        </p:nvSpPr>
        <p:spPr>
          <a:xfrm>
            <a:off x="2706541" y="7957260"/>
            <a:ext cx="6778917" cy="30849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Export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Select XLSX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FC9FBCE4-E3D0-FA46-8361-9601341B9201}"/>
              </a:ext>
            </a:extLst>
          </p:cNvPr>
          <p:cNvSpPr/>
          <p:nvPr/>
        </p:nvSpPr>
        <p:spPr>
          <a:xfrm>
            <a:off x="0" y="5424836"/>
            <a:ext cx="4389120" cy="1433163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07FD7562-4607-012D-AC09-BC28AAECC494}"/>
              </a:ext>
            </a:extLst>
          </p:cNvPr>
          <p:cNvSpPr/>
          <p:nvPr/>
        </p:nvSpPr>
        <p:spPr>
          <a:xfrm>
            <a:off x="16373526" y="11581796"/>
            <a:ext cx="4389120" cy="1433163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861862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A843-9F1B-092E-9D58-69D31E0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410A7927-8129-8503-FC9B-E23BEF064C45}"/>
              </a:ext>
            </a:extLst>
          </p:cNvPr>
          <p:cNvSpPr txBox="1"/>
          <p:nvPr/>
        </p:nvSpPr>
        <p:spPr>
          <a:xfrm>
            <a:off x="2004437" y="5324342"/>
            <a:ext cx="20375125" cy="306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Clean up the dataset </a:t>
            </a:r>
            <a:r>
              <a:rPr lang="en-GB" dirty="0">
                <a:highlight>
                  <a:srgbClr val="FFFF00"/>
                </a:highlight>
              </a:rPr>
              <a:t>before</a:t>
            </a:r>
            <a:r>
              <a:rPr lang="en-GB" dirty="0"/>
              <a:t> OCR</a:t>
            </a:r>
          </a:p>
          <a:p>
            <a:r>
              <a:rPr lang="en-GB" sz="6600" b="0" dirty="0"/>
              <a:t>avoid rubbish in, rubbish out</a:t>
            </a:r>
            <a:endParaRPr sz="6600" b="0" dirty="0"/>
          </a:p>
        </p:txBody>
      </p:sp>
    </p:spTree>
    <p:extLst>
      <p:ext uri="{BB962C8B-B14F-4D97-AF65-F5344CB8AC3E}">
        <p14:creationId xmlns:p14="http://schemas.microsoft.com/office/powerpoint/2010/main" val="115266516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0686-C6F3-7185-9E81-6245597B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6FE2AF33-62DF-55E2-3011-6868CB04EE50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F8A799-B109-2927-1254-552906A5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Inspect the data– scanning quality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3DABC-5F07-FC7B-92F4-5970233D5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613" y="2820231"/>
            <a:ext cx="7541138" cy="10058400"/>
          </a:xfrm>
          <a:prstGeom prst="rect">
            <a:avLst/>
          </a:prstGeom>
        </p:spPr>
      </p:pic>
      <p:pic>
        <p:nvPicPr>
          <p:cNvPr id="8" name="Picture 7" descr="A page of a book&#10;&#10;AI-generated content may be incorrect.">
            <a:extLst>
              <a:ext uri="{FF2B5EF4-FFF2-40B4-BE49-F238E27FC236}">
                <a16:creationId xmlns:a16="http://schemas.microsoft.com/office/drawing/2014/main" id="{E4BA3504-50E5-B7C8-0FDE-863013ECC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723" y="2820231"/>
            <a:ext cx="6584917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0531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A0F4-FF95-FAD6-0DF8-FD9FEE71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0819E7C8-CF47-4B43-B488-BE454E357CEF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0C815A-73D3-79D8-9E3C-BCA5A877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Inspect the data– scanning quality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46800-68A9-657B-6942-4E234975E9FB}"/>
              </a:ext>
            </a:extLst>
          </p:cNvPr>
          <p:cNvSpPr txBox="1"/>
          <p:nvPr/>
        </p:nvSpPr>
        <p:spPr>
          <a:xfrm>
            <a:off x="2185085" y="4986915"/>
            <a:ext cx="20001331" cy="51521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6000" dirty="0">
                <a:solidFill>
                  <a:srgbClr val="02214C"/>
                </a:solidFill>
                <a:effectLst/>
                <a:latin typeface="Helvetica" pitchFamily="2" charset="0"/>
              </a:rPr>
              <a:t>Image resolution</a:t>
            </a:r>
          </a:p>
          <a:p>
            <a:pPr>
              <a:buNone/>
            </a:pPr>
            <a:r>
              <a:rPr lang="en-GB" sz="6000" dirty="0">
                <a:solidFill>
                  <a:srgbClr val="000000"/>
                </a:solidFill>
                <a:effectLst/>
                <a:latin typeface="Helvetica" pitchFamily="2" charset="0"/>
              </a:rPr>
              <a:t>300 DPI is often used as a benchmark for good quality</a:t>
            </a:r>
          </a:p>
          <a:p>
            <a:pPr>
              <a:buNone/>
            </a:pPr>
            <a:r>
              <a:rPr lang="en-GB" sz="6000" dirty="0">
                <a:solidFill>
                  <a:srgbClr val="000000"/>
                </a:solidFill>
                <a:effectLst/>
                <a:latin typeface="Helvetica" pitchFamily="2" charset="0"/>
              </a:rPr>
              <a:t>printing reproducibility for photographs, but this may vary</a:t>
            </a:r>
          </a:p>
          <a:p>
            <a:pPr>
              <a:buNone/>
            </a:pPr>
            <a:r>
              <a:rPr lang="en-GB" sz="6000" dirty="0">
                <a:solidFill>
                  <a:srgbClr val="0B4CB4"/>
                </a:solidFill>
                <a:effectLst/>
                <a:latin typeface="Helvetica" pitchFamily="2" charset="0"/>
              </a:rPr>
              <a:t>Ex. National archive</a:t>
            </a:r>
          </a:p>
        </p:txBody>
      </p:sp>
    </p:spTree>
    <p:extLst>
      <p:ext uri="{BB962C8B-B14F-4D97-AF65-F5344CB8AC3E}">
        <p14:creationId xmlns:p14="http://schemas.microsoft.com/office/powerpoint/2010/main" val="316107791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2B1A-3765-456F-1390-2E5268C1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3638A7-CE69-398F-7C90-B4375820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</p:spPr>
        <p:txBody>
          <a:bodyPr anchor="ctr">
            <a:normAutofit/>
          </a:bodyPr>
          <a:lstStyle/>
          <a:p>
            <a:r>
              <a:rPr lang="en-GB"/>
              <a:t>Inspect the image - language</a:t>
            </a:r>
            <a:endParaRPr lang="en-US" dirty="0"/>
          </a:p>
        </p:txBody>
      </p:sp>
      <p:pic>
        <p:nvPicPr>
          <p:cNvPr id="11266" name="Picture 2" descr="German textbooks: how they've changed! - Multilingual Mum">
            <a:extLst>
              <a:ext uri="{FF2B5EF4-FFF2-40B4-BE49-F238E27FC236}">
                <a16:creationId xmlns:a16="http://schemas.microsoft.com/office/drawing/2014/main" id="{0474288E-2334-BF15-A888-3A2FF3203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1" r="-1" b="20119"/>
          <a:stretch>
            <a:fillRect/>
          </a:stretch>
        </p:blipFill>
        <p:spPr bwMode="auto">
          <a:xfrm>
            <a:off x="1587500" y="3434683"/>
            <a:ext cx="10795000" cy="8705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7C594AC-97BD-F350-F428-B0FEE8133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r="6540"/>
          <a:stretch>
            <a:fillRect/>
          </a:stretch>
        </p:blipFill>
        <p:spPr>
          <a:xfrm>
            <a:off x="12382500" y="3931412"/>
            <a:ext cx="10795000" cy="8705088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F15F06FF-2314-252F-2991-E23E256483DB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916663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FC75-EEDB-863A-B0DF-F1D56B71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4CC40C99-0676-5F5A-8733-5D08B3B106CB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02BB25-2B5A-D3A1-9049-26D95F70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Inspect the image - typesetting</a:t>
            </a:r>
            <a:br>
              <a:rPr lang="en-GB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BC031-1340-CFA2-F4F8-8EB52573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33" y="2845663"/>
            <a:ext cx="10972406" cy="9132977"/>
          </a:xfrm>
          <a:prstGeom prst="rect">
            <a:avLst/>
          </a:prstGeom>
        </p:spPr>
      </p:pic>
      <p:pic>
        <p:nvPicPr>
          <p:cNvPr id="8" name="Picture 7" descr="A close-up of a newspaper&#10;&#10;AI-generated content may be incorrect.">
            <a:extLst>
              <a:ext uri="{FF2B5EF4-FFF2-40B4-BE49-F238E27FC236}">
                <a16:creationId xmlns:a16="http://schemas.microsoft.com/office/drawing/2014/main" id="{3977291C-D3A6-3B76-5EAB-F36091962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7" t="37769" r="28677" b="9806"/>
          <a:stretch>
            <a:fillRect/>
          </a:stretch>
        </p:blipFill>
        <p:spPr>
          <a:xfrm>
            <a:off x="14386560" y="2637351"/>
            <a:ext cx="7775407" cy="9341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4D8B4-D978-94F8-C4E1-9FB8C2DFBBF5}"/>
              </a:ext>
            </a:extLst>
          </p:cNvPr>
          <p:cNvSpPr txBox="1"/>
          <p:nvPr/>
        </p:nvSpPr>
        <p:spPr>
          <a:xfrm>
            <a:off x="5406834" y="11714927"/>
            <a:ext cx="6778917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vertical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1DF03-7230-E193-E26C-AF90449A4E00}"/>
              </a:ext>
            </a:extLst>
          </p:cNvPr>
          <p:cNvSpPr txBox="1"/>
          <p:nvPr/>
        </p:nvSpPr>
        <p:spPr>
          <a:xfrm>
            <a:off x="13868400" y="11714927"/>
            <a:ext cx="9838791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Multiple columns/ blocks</a:t>
            </a:r>
          </a:p>
        </p:txBody>
      </p:sp>
    </p:spTree>
    <p:extLst>
      <p:ext uri="{BB962C8B-B14F-4D97-AF65-F5344CB8AC3E}">
        <p14:creationId xmlns:p14="http://schemas.microsoft.com/office/powerpoint/2010/main" val="133566299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56" name="Screenshot 2024-04-07 at 20.22.21.png" descr="Screenshot 2024-04-07 at 20.22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74" y="3388816"/>
            <a:ext cx="14102407" cy="828920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}"/>
          <p:cNvSpPr txBox="1"/>
          <p:nvPr/>
        </p:nvSpPr>
        <p:spPr>
          <a:xfrm>
            <a:off x="16311438" y="42245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8" name="}"/>
          <p:cNvSpPr txBox="1"/>
          <p:nvPr/>
        </p:nvSpPr>
        <p:spPr>
          <a:xfrm>
            <a:off x="16311438" y="78313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9" name="Text (Markdown)"/>
          <p:cNvSpPr txBox="1"/>
          <p:nvPr/>
        </p:nvSpPr>
        <p:spPr>
          <a:xfrm>
            <a:off x="17652116" y="8524639"/>
            <a:ext cx="640008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(Markdown)</a:t>
            </a:r>
          </a:p>
        </p:txBody>
      </p:sp>
      <p:sp>
        <p:nvSpPr>
          <p:cNvPr id="260" name="Code (Python)"/>
          <p:cNvSpPr txBox="1"/>
          <p:nvPr/>
        </p:nvSpPr>
        <p:spPr>
          <a:xfrm>
            <a:off x="17652116" y="5349639"/>
            <a:ext cx="6400084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(Python)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E77C49-6B57-394E-C0A9-F42E1A6E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89279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5EBA1-2AFA-E141-2917-F1C990C27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05" y="211974"/>
            <a:ext cx="18296589" cy="13292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171851-68AE-AF09-0CA9-FC232FBE1FD5}"/>
              </a:ext>
            </a:extLst>
          </p:cNvPr>
          <p:cNvSpPr txBox="1"/>
          <p:nvPr/>
        </p:nvSpPr>
        <p:spPr>
          <a:xfrm>
            <a:off x="7712243" y="2132975"/>
            <a:ext cx="12200020" cy="480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/>
              <a:t>https://tesseract-</a:t>
            </a:r>
            <a:r>
              <a:rPr lang="en-US" sz="2800" dirty="0" err="1"/>
              <a:t>ocr.github.io</a:t>
            </a:r>
            <a:r>
              <a:rPr lang="en-US" sz="2800" dirty="0"/>
              <a:t>/</a:t>
            </a:r>
            <a:r>
              <a:rPr lang="en-US" sz="2800" dirty="0" err="1"/>
              <a:t>tessdoc</a:t>
            </a:r>
            <a:r>
              <a:rPr lang="en-US" sz="2800" dirty="0"/>
              <a:t>/Data-Files-in-different-</a:t>
            </a:r>
            <a:r>
              <a:rPr lang="en-US" sz="2800" dirty="0" err="1"/>
              <a:t>versions.html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065065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27A3-A715-C97B-112B-E1E59C23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inishing Up">
            <a:extLst>
              <a:ext uri="{FF2B5EF4-FFF2-40B4-BE49-F238E27FC236}">
                <a16:creationId xmlns:a16="http://schemas.microsoft.com/office/drawing/2014/main" id="{41C589CD-9459-C7D9-C4BA-391306B222CF}"/>
              </a:ext>
            </a:extLst>
          </p:cNvPr>
          <p:cNvSpPr txBox="1"/>
          <p:nvPr/>
        </p:nvSpPr>
        <p:spPr>
          <a:xfrm>
            <a:off x="2004438" y="6110391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Finishing Up</a:t>
            </a:r>
            <a:r>
              <a:rPr lang="en-GB" dirty="0"/>
              <a:t> Session 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620751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1A3A-AEFC-D966-46BD-BE1AD9A8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9C084385-340B-B65A-0784-C01F841F5C36}"/>
              </a:ext>
            </a:extLst>
          </p:cNvPr>
          <p:cNvSpPr txBox="1"/>
          <p:nvPr/>
        </p:nvSpPr>
        <p:spPr>
          <a:xfrm>
            <a:off x="2004437" y="6110390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Handwriting OCR</a:t>
            </a:r>
          </a:p>
        </p:txBody>
      </p:sp>
    </p:spTree>
    <p:extLst>
      <p:ext uri="{BB962C8B-B14F-4D97-AF65-F5344CB8AC3E}">
        <p14:creationId xmlns:p14="http://schemas.microsoft.com/office/powerpoint/2010/main" val="330660929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FDAE-E948-15A1-3EAC-A4AB0671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792480"/>
            <a:ext cx="21971000" cy="2499452"/>
          </a:xfrm>
        </p:spPr>
        <p:txBody>
          <a:bodyPr>
            <a:normAutofit/>
          </a:bodyPr>
          <a:lstStyle/>
          <a:p>
            <a:r>
              <a:rPr lang="en-US" dirty="0"/>
              <a:t>Machine learning basics</a:t>
            </a:r>
            <a:br>
              <a:rPr lang="en-US" dirty="0"/>
            </a:br>
            <a:r>
              <a:rPr lang="en-US" dirty="0"/>
              <a:t>How OCR models are “trained”</a:t>
            </a:r>
          </a:p>
        </p:txBody>
      </p:sp>
      <p:sp>
        <p:nvSpPr>
          <p:cNvPr id="5" name="Our choice of interpreter throughout the week will be Jupyter Notebooks. These have many benefits:…">
            <a:extLst>
              <a:ext uri="{FF2B5EF4-FFF2-40B4-BE49-F238E27FC236}">
                <a16:creationId xmlns:a16="http://schemas.microsoft.com/office/drawing/2014/main" id="{9CAB2B2C-56AF-8A22-2938-108085BEB8D0}"/>
              </a:ext>
            </a:extLst>
          </p:cNvPr>
          <p:cNvSpPr txBox="1"/>
          <p:nvPr/>
        </p:nvSpPr>
        <p:spPr>
          <a:xfrm>
            <a:off x="1282455" y="3291932"/>
            <a:ext cx="21971000" cy="8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4400" dirty="0"/>
              <a:t>1. Collect training data: Collect images of handwriting, and label each writing with the correct text for each image.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44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4400" dirty="0"/>
              <a:t>2 Make a prediction: The model processes an image and predicts what the text says.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44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4400" dirty="0"/>
              <a:t>3 Calculate the error: Compare the predicted text with the correct text. The difference is used to measure how well the model performed.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44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4400" dirty="0"/>
              <a:t>4 Adjust the model: An optimisation algorithm updates the model's parameters to reduce the error.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4400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4400" dirty="0"/>
              <a:t>5 Repeat and evaluate: Repeat across many examples, then test the model on data it has not seen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316777368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4AC1-7DD3-9206-63BC-14870AD5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>
            <a:extLst>
              <a:ext uri="{FF2B5EF4-FFF2-40B4-BE49-F238E27FC236}">
                <a16:creationId xmlns:a16="http://schemas.microsoft.com/office/drawing/2014/main" id="{DF2E93E9-3D81-D625-7CD4-C089CEF53804}"/>
              </a:ext>
            </a:extLst>
          </p:cNvPr>
          <p:cNvSpPr txBox="1"/>
          <p:nvPr/>
        </p:nvSpPr>
        <p:spPr>
          <a:xfrm>
            <a:off x="1282455" y="5576413"/>
            <a:ext cx="21971000" cy="4336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GB" sz="8800" dirty="0"/>
              <a:t>We will use Microsoft's </a:t>
            </a:r>
            <a:r>
              <a:rPr lang="en-GB" sz="8800" dirty="0" err="1"/>
              <a:t>TrOCR</a:t>
            </a:r>
            <a:r>
              <a:rPr lang="en-GB" sz="8800" dirty="0"/>
              <a:t> handwriting model to recognize handwritten lines. </a:t>
            </a:r>
          </a:p>
          <a:p>
            <a:r>
              <a:rPr lang="en-GB" sz="8800" dirty="0"/>
              <a:t>The model run the pretrained weights.</a:t>
            </a:r>
          </a:p>
        </p:txBody>
      </p:sp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66FD7609-0BBF-A6A3-806B-BBBAB8E40B2F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B9314C-C30D-ECA7-5812-FE3E607F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Handwriting OCR with </a:t>
            </a:r>
            <a:r>
              <a:rPr lang="en-GB" dirty="0" err="1"/>
              <a:t>TrOCR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5194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03D0-C8D7-8AFC-640A-BA4E6970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B967C3E6-7E16-736A-E423-D56BA6370862}"/>
              </a:ext>
            </a:extLst>
          </p:cNvPr>
          <p:cNvSpPr txBox="1"/>
          <p:nvPr/>
        </p:nvSpPr>
        <p:spPr>
          <a:xfrm>
            <a:off x="2004437" y="6110390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Clean up the dataset </a:t>
            </a:r>
            <a:r>
              <a:rPr lang="en-GB" dirty="0">
                <a:highlight>
                  <a:srgbClr val="FFFF00"/>
                </a:highlight>
              </a:rPr>
              <a:t>after</a:t>
            </a:r>
            <a:r>
              <a:rPr lang="en-GB" dirty="0"/>
              <a:t> OCR</a:t>
            </a:r>
          </a:p>
        </p:txBody>
      </p:sp>
    </p:spTree>
    <p:extLst>
      <p:ext uri="{BB962C8B-B14F-4D97-AF65-F5344CB8AC3E}">
        <p14:creationId xmlns:p14="http://schemas.microsoft.com/office/powerpoint/2010/main" val="194987219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/>
          <p:cNvSpPr txBox="1"/>
          <p:nvPr/>
        </p:nvSpPr>
        <p:spPr>
          <a:xfrm>
            <a:off x="1282455" y="3384272"/>
            <a:ext cx="21971000" cy="872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Regex used in many different programming environments for pattern matching. </a:t>
            </a:r>
            <a:br>
              <a:rPr lang="en-GB" dirty="0"/>
            </a:br>
            <a:endParaRPr lang="en-GB" dirty="0"/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Use a sequence of characters to define a search to match strings</a:t>
            </a:r>
            <a:br>
              <a:rPr lang="en-GB" dirty="0"/>
            </a:br>
            <a:endParaRPr lang="en-GB" dirty="0"/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Match on types of characters and patterns to remove, or replace them</a:t>
            </a:r>
          </a:p>
        </p:txBody>
      </p:sp>
      <p:sp>
        <p:nvSpPr>
          <p:cNvPr id="253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968547-3DCB-1F9E-B6D9-90505BA1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35AD-C530-C0AE-82FF-4815F57A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7035F852-6618-5A6B-7B6C-4E47D9408319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FEBF51-79D7-1D4A-0B88-9DB44761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  <p:pic>
        <p:nvPicPr>
          <p:cNvPr id="2" name="Picture 1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51468952-92B7-9111-1DDB-7D69E2E36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29" y="2637351"/>
            <a:ext cx="10220034" cy="1105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8619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92E3-8181-7F19-490E-18F44938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D5A6C090-9EAB-7E04-00C8-C30EF920A695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A7351D-E69C-7E12-CCCB-10B33B5D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3EC09FB-4FD1-8825-B4C6-8258174C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09" y="2637351"/>
            <a:ext cx="16046551" cy="10172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48FEE-F25A-8E8A-4827-66B66A09471C}"/>
              </a:ext>
            </a:extLst>
          </p:cNvPr>
          <p:cNvSpPr txBox="1"/>
          <p:nvPr/>
        </p:nvSpPr>
        <p:spPr>
          <a:xfrm>
            <a:off x="16824960" y="3318570"/>
            <a:ext cx="6705600" cy="9325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A1C3E"/>
                </a:solidFill>
                <a:latin typeface="Helvetica"/>
              </a:rPr>
              <a:t>Useful sites for regex</a:t>
            </a:r>
            <a:br>
              <a:rPr lang="en-US" sz="4000" b="1" dirty="0">
                <a:solidFill>
                  <a:srgbClr val="0A1C3E"/>
                </a:solidFill>
                <a:latin typeface="Helvetica"/>
              </a:rPr>
            </a:br>
            <a:endParaRPr lang="en-US" sz="4000" b="1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3"/>
              </a:rPr>
              <a:t>https://programminghistorian.org/en/lessons/cleaning-ocrd-text-with-regular-expressions </a:t>
            </a: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https://programminghistorian.org/en/lessons/understanding-regular-expressions</a:t>
            </a:r>
            <a:r>
              <a:rPr lang="en-US" sz="4000" dirty="0">
                <a:solidFill>
                  <a:srgbClr val="0A1C3E"/>
                </a:solidFill>
                <a:latin typeface="Helvetica"/>
              </a:rPr>
              <a:t> </a:t>
            </a: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https://librarycarpentry.org/lc-data-intro/01-regular-expressions/</a:t>
            </a:r>
            <a:r>
              <a:rPr lang="en-US" sz="4000" dirty="0">
                <a:solidFill>
                  <a:srgbClr val="0A1C3E"/>
                </a:solidFill>
                <a:latin typeface="Helvetica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8348313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inishing Up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Finishing Up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dditional Resources…"/>
          <p:cNvSpPr txBox="1"/>
          <p:nvPr/>
        </p:nvSpPr>
        <p:spPr>
          <a:xfrm>
            <a:off x="2171046" y="3322007"/>
            <a:ext cx="19376265" cy="841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This course used (slightly modified) notebooks from Code Storytelling (http://</a:t>
            </a:r>
            <a:r>
              <a:rPr lang="en-GB" dirty="0" err="1"/>
              <a:t>www.codestorytelling.com</a:t>
            </a:r>
            <a:r>
              <a:rPr lang="en-GB" dirty="0"/>
              <a:t>). 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covered badges 1,2,4,5,7, and 8. Consider working through some more of the notebooks and watching some of the videos.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Think Python is an introductory Python book with many exercises, free to read online: https://</a:t>
            </a:r>
            <a:r>
              <a:rPr lang="en-GB" dirty="0" err="1"/>
              <a:t>greenteapress.com</a:t>
            </a:r>
            <a:r>
              <a:rPr lang="en-GB" dirty="0"/>
              <a:t>/</a:t>
            </a:r>
            <a:r>
              <a:rPr lang="en-GB" dirty="0" err="1"/>
              <a:t>wp</a:t>
            </a:r>
            <a:r>
              <a:rPr lang="en-GB" dirty="0"/>
              <a:t>/think-python-2e/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BC512-92C9-0FBA-7548-473BCE8E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Additional Resources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Feedback for us...…"/>
          <p:cNvSpPr txBox="1"/>
          <p:nvPr/>
        </p:nvSpPr>
        <p:spPr>
          <a:xfrm>
            <a:off x="2503867" y="5077668"/>
            <a:ext cx="1937626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30AEE-0F81-6FAC-76A9-F63538E2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7" y="2306183"/>
            <a:ext cx="21971004" cy="2353262"/>
          </a:xfrm>
        </p:spPr>
        <p:txBody>
          <a:bodyPr/>
          <a:lstStyle/>
          <a:p>
            <a:r>
              <a:rPr lang="en-US" dirty="0"/>
              <a:t>Feedback for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F866-D618-C59D-A389-E829C545A3F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6499" y="4659445"/>
            <a:ext cx="21971001" cy="6509297"/>
          </a:xfrm>
        </p:spPr>
        <p:txBody>
          <a:bodyPr>
            <a:normAutofit fontScale="92500" lnSpcReduction="10000"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Feedback for us...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hope you've enjoyed the course as much as we did.</a:t>
            </a:r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It is really useful for us to hear your feedback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>
              <a:hlinkClick r:id="rId2"/>
            </a:endParaRP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5800" dirty="0">
                <a:hlinkClick r:id="rId2"/>
              </a:rPr>
              <a:t>https://edin.ac/45BpZFm</a:t>
            </a:r>
            <a:r>
              <a:rPr lang="en-GB" sz="5800" dirty="0"/>
              <a:t> 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/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Should be really quick and only take 5 mins (maximum!)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12047</TotalTime>
  <Words>1083</Words>
  <Application>Microsoft Macintosh PowerPoint</Application>
  <PresentationFormat>Custom</PresentationFormat>
  <Paragraphs>165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Integral CF Bold</vt:lpstr>
      <vt:lpstr>Arial</vt:lpstr>
      <vt:lpstr>Calibri</vt:lpstr>
      <vt:lpstr>Helvetica</vt:lpstr>
      <vt:lpstr>Helvetica Neue</vt:lpstr>
      <vt:lpstr>Helvetica Neue Medium</vt:lpstr>
      <vt:lpstr>Source Sans Pro</vt:lpstr>
      <vt:lpstr>Verdana Pro Cond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OCR Workflow</vt:lpstr>
      <vt:lpstr>PowerPoint Presentation</vt:lpstr>
      <vt:lpstr>Try ready-made OCR tools</vt:lpstr>
      <vt:lpstr> Challenges of OCR</vt:lpstr>
      <vt:lpstr>Stained archive</vt:lpstr>
      <vt:lpstr> Challenges of OCR</vt:lpstr>
      <vt:lpstr>Pictures and multi-languages</vt:lpstr>
      <vt:lpstr> Challenges of OCR</vt:lpstr>
      <vt:lpstr>Cursive fonts, Handwritings</vt:lpstr>
      <vt:lpstr> Challenges of OCR</vt:lpstr>
      <vt:lpstr>Human Errors - example</vt:lpstr>
      <vt:lpstr>Human Errors - example</vt:lpstr>
      <vt:lpstr>Human Errors - example</vt:lpstr>
      <vt:lpstr>PowerPoint Presentation</vt:lpstr>
      <vt:lpstr>Ways to improve OCR results</vt:lpstr>
      <vt:lpstr>Ways to improve OCR results</vt:lpstr>
      <vt:lpstr>Activity – Out of the box tools</vt:lpstr>
      <vt:lpstr>Activity – Out of the box tools</vt:lpstr>
      <vt:lpstr>Activity – Out of the box tools</vt:lpstr>
      <vt:lpstr>Activity – Out of the box tools</vt:lpstr>
      <vt:lpstr>PowerPoint Presentation</vt:lpstr>
      <vt:lpstr>Inspect the data– scanning quality</vt:lpstr>
      <vt:lpstr>Inspect the data– scanning quality</vt:lpstr>
      <vt:lpstr>Inspect the image - language</vt:lpstr>
      <vt:lpstr>Inspect the image - typesetting </vt:lpstr>
      <vt:lpstr>Jupyter Notebooks</vt:lpstr>
      <vt:lpstr>PowerPoint Presentation</vt:lpstr>
      <vt:lpstr>PowerPoint Presentation</vt:lpstr>
      <vt:lpstr>PowerPoint Presentation</vt:lpstr>
      <vt:lpstr>Machine learning basics How OCR models are “trained”</vt:lpstr>
      <vt:lpstr>Handwriting OCR with TrOCR</vt:lpstr>
      <vt:lpstr>PowerPoint Presentation</vt:lpstr>
      <vt:lpstr>Regex</vt:lpstr>
      <vt:lpstr>Regex</vt:lpstr>
      <vt:lpstr>Regex</vt:lpstr>
      <vt:lpstr>PowerPoint Presentation</vt:lpstr>
      <vt:lpstr>Additional Resources </vt:lpstr>
      <vt:lpstr>Feedback for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Joy Lan</cp:lastModifiedBy>
  <cp:revision>14</cp:revision>
  <dcterms:modified xsi:type="dcterms:W3CDTF">2026-10-27T21:42:46Z</dcterms:modified>
</cp:coreProperties>
</file>