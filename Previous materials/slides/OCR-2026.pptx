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63" r:id="rId5"/>
    <p:sldId id="264" r:id="rId6"/>
    <p:sldId id="266" r:id="rId7"/>
    <p:sldId id="331" r:id="rId8"/>
    <p:sldId id="477" r:id="rId9"/>
    <p:sldId id="473" r:id="rId10"/>
    <p:sldId id="474" r:id="rId11"/>
    <p:sldId id="475" r:id="rId12"/>
    <p:sldId id="478" r:id="rId13"/>
    <p:sldId id="464" r:id="rId14"/>
    <p:sldId id="466" r:id="rId15"/>
    <p:sldId id="462" r:id="rId16"/>
    <p:sldId id="467" r:id="rId17"/>
    <p:sldId id="468" r:id="rId18"/>
    <p:sldId id="469" r:id="rId19"/>
    <p:sldId id="465" r:id="rId20"/>
    <p:sldId id="328" r:id="rId21"/>
    <p:sldId id="329" r:id="rId22"/>
    <p:sldId id="463" r:id="rId23"/>
    <p:sldId id="485" r:id="rId24"/>
    <p:sldId id="480" r:id="rId25"/>
    <p:sldId id="487" r:id="rId26"/>
    <p:sldId id="488" r:id="rId27"/>
    <p:sldId id="489" r:id="rId28"/>
    <p:sldId id="484" r:id="rId29"/>
    <p:sldId id="491" r:id="rId30"/>
    <p:sldId id="490" r:id="rId31"/>
    <p:sldId id="268" r:id="rId32"/>
    <p:sldId id="482" r:id="rId33"/>
    <p:sldId id="483" r:id="rId34"/>
    <p:sldId id="274" r:id="rId35"/>
    <p:sldId id="269" r:id="rId36"/>
    <p:sldId id="312" r:id="rId37"/>
    <p:sldId id="313" r:id="rId38"/>
    <p:sldId id="315" r:id="rId39"/>
    <p:sldId id="316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8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713"/>
    <p:restoredTop sz="94668"/>
  </p:normalViewPr>
  <p:slideViewPr>
    <p:cSldViewPr snapToGrid="0">
      <p:cViewPr varScale="1">
        <p:scale>
          <a:sx n="43" d="100"/>
          <a:sy n="43" d="100"/>
        </p:scale>
        <p:origin x="28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308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F82F-8347-6E8B-4A84-65C8EC517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500E2-FFA1-274C-6752-EEFA7BA15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9ABAC-B293-B121-46CA-0751A7DA2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058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8" name="Picture 1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E4B57E4-41C4-2E59-D000-214E4F77FE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80416" y="120134"/>
            <a:ext cx="6928705" cy="17321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D8E8AC0-365C-0B74-0C36-8189C4D376B0}"/>
              </a:ext>
            </a:extLst>
          </p:cNvPr>
          <p:cNvGrpSpPr/>
          <p:nvPr userDrawn="1"/>
        </p:nvGrpSpPr>
        <p:grpSpPr>
          <a:xfrm flipH="1">
            <a:off x="5170902" y="12171374"/>
            <a:ext cx="19483262" cy="1762721"/>
            <a:chOff x="0" y="12381483"/>
            <a:chExt cx="19483262" cy="1423702"/>
          </a:xfrm>
        </p:grpSpPr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0567CD4-8E34-FF0C-A65A-267EF9B4662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D4909914-5A0A-D6E8-84B3-CAA53226B0E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667BDE9-ECD8-61DE-5479-2B3E3D5CD7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10862" y="12406153"/>
              <a:ext cx="7772400" cy="1399032"/>
            </a:xfrm>
            <a:prstGeom prst="rect">
              <a:avLst/>
            </a:prstGeom>
          </p:spPr>
        </p:pic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8DCA3A-B030-9CA1-0C37-3C057A57F1C0}"/>
              </a:ext>
            </a:extLst>
          </p:cNvPr>
          <p:cNvGrpSpPr/>
          <p:nvPr userDrawn="1"/>
        </p:nvGrpSpPr>
        <p:grpSpPr>
          <a:xfrm flipV="1">
            <a:off x="-2001816" y="-156680"/>
            <a:ext cx="19545609" cy="2008990"/>
            <a:chOff x="0" y="12351959"/>
            <a:chExt cx="19545609" cy="1428556"/>
          </a:xfrm>
        </p:grpSpPr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65F3EB2-2C64-E529-94C8-57F409C3917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0" y="12381483"/>
              <a:ext cx="7772400" cy="1399032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A2692AE-5BB3-11E0-CB21-EB797BCE8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5704916" y="12381483"/>
              <a:ext cx="7772400" cy="1399032"/>
            </a:xfrm>
            <a:prstGeom prst="rect">
              <a:avLst/>
            </a:prstGeom>
          </p:spPr>
        </p:pic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2C24B781-9AC9-4E77-6290-80870D5F5A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773209" y="12351959"/>
              <a:ext cx="7772400" cy="1399032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essions Throughout  the course">
            <a:extLst>
              <a:ext uri="{FF2B5EF4-FFF2-40B4-BE49-F238E27FC236}">
                <a16:creationId xmlns:a16="http://schemas.microsoft.com/office/drawing/2014/main" id="{3DD2EE4F-7580-1683-B89C-0171A858274C}"/>
              </a:ext>
            </a:extLst>
          </p:cNvPr>
          <p:cNvSpPr txBox="1"/>
          <p:nvPr userDrawn="1"/>
        </p:nvSpPr>
        <p:spPr>
          <a:xfrm>
            <a:off x="1096" y="1015072"/>
            <a:ext cx="18507641" cy="1216743"/>
          </a:xfrm>
          <a:prstGeom prst="rect">
            <a:avLst/>
          </a:prstGeom>
          <a:solidFill>
            <a:srgbClr val="EAFA5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 algn="ctr">
              <a:defRPr sz="8000" b="1">
                <a:solidFill>
                  <a:srgbClr val="5DCBC0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BE5C2D-BCB6-5575-E08E-C615B6B0D3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CB4B4D-7CA3-9044-876B-883B54F8677D}" type="slidenum">
              <a:rPr lang="en-GB" smtClean="0"/>
              <a:t>‹#›</a:t>
            </a:fld>
            <a:endParaRPr lang="en-GB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A49CE852-4CAB-4844-011F-8894CBBE7E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7641" y="873289"/>
            <a:ext cx="5713725" cy="1428432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0D901C3-12E4-7385-39D0-865949AB4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0251" y="1204188"/>
            <a:ext cx="21971000" cy="1433163"/>
          </a:xfrm>
        </p:spPr>
        <p:txBody>
          <a:bodyPr/>
          <a:lstStyle>
            <a:lvl1pPr>
              <a:defRPr kumimoji="0" lang="en-GB" sz="8000" b="1" i="0" u="none" strike="noStrike" cap="none" spc="0" normalizeH="0" baseline="0" smtClean="0">
                <a:ln>
                  <a:noFill/>
                </a:ln>
                <a:solidFill>
                  <a:srgbClr val="0A1C3E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3" name="Picture 1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A387F5A-544D-69F0-5B42-F124C027D1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8737" y="857568"/>
            <a:ext cx="5713725" cy="14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98728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immarkus.xmarkus.org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ramminghistorian.org/en/lessons/cleaning-ocrd-text-with-regular-expressions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librarycarpentry.org/lc-data-intro/01-regular-expressions/" TargetMode="External"/><Relationship Id="rId4" Type="http://schemas.openxmlformats.org/officeDocument/2006/relationships/hyperlink" Target="https://programminghistorian.org/en/lessons/understanding-regular-expressions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edin.ac/45BpZFm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4C723DAB-1AAD-C98B-5A9C-D013F15DFA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344"/>
          <a:stretch>
            <a:fillRect/>
          </a:stretch>
        </p:blipFill>
        <p:spPr>
          <a:xfrm>
            <a:off x="-762000" y="1"/>
            <a:ext cx="22934835" cy="13716000"/>
          </a:xfrm>
          <a:prstGeom prst="rect">
            <a:avLst/>
          </a:prstGeom>
        </p:spPr>
      </p:pic>
      <p:pic>
        <p:nvPicPr>
          <p:cNvPr id="175" name="Edinburgh Futures Institute_logo_linear_white.png" descr="Edinburgh Futures Institute_logo_linea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6323" y="1754362"/>
            <a:ext cx="7618172" cy="1905001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06A058-BFF8-E048-5818-3AD0529D097C}"/>
              </a:ext>
            </a:extLst>
          </p:cNvPr>
          <p:cNvSpPr txBox="1"/>
          <p:nvPr/>
        </p:nvSpPr>
        <p:spPr>
          <a:xfrm>
            <a:off x="536005" y="9053149"/>
            <a:ext cx="22227660" cy="64633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sz="4000" b="1" dirty="0">
                <a:solidFill>
                  <a:schemeClr val="bg1"/>
                </a:solidFill>
              </a:rPr>
              <a:t>Instructors	Joy Lan PhD Candidate Moray House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Arrangements for…"/>
          <p:cNvSpPr txBox="1"/>
          <p:nvPr/>
        </p:nvSpPr>
        <p:spPr>
          <a:xfrm>
            <a:off x="2004438" y="5073650"/>
            <a:ext cx="20375125" cy="3568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Arrangements for </a:t>
            </a:r>
          </a:p>
          <a:p>
            <a: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the COURSE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9" name="Table 1"/>
          <p:cNvGraphicFramePr/>
          <p:nvPr>
            <p:extLst>
              <p:ext uri="{D42A27DB-BD31-4B8C-83A1-F6EECF244321}">
                <p14:modId xmlns:p14="http://schemas.microsoft.com/office/powerpoint/2010/main" val="3287108757"/>
              </p:ext>
            </p:extLst>
          </p:nvPr>
        </p:nvGraphicFramePr>
        <p:xfrm>
          <a:off x="1339900" y="1276350"/>
          <a:ext cx="21428660" cy="10580370"/>
        </p:xfrm>
        <a:graphic>
          <a:graphicData uri="http://schemas.openxmlformats.org/drawingml/2006/table">
            <a:tbl>
              <a:tblPr firstRow="1" firstCol="1">
                <a:tableStyleId>{4C3C2611-4C71-4FC5-86AE-919BDF0F9419}</a:tableStyleId>
              </a:tblPr>
              <a:tblGrid>
                <a:gridCol w="323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98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50313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Time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1 </a:t>
                      </a:r>
                      <a:endParaRPr lang="en-GB" sz="4000" b="1" dirty="0">
                        <a:solidFill>
                          <a:srgbClr val="0A1C3E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28th</a:t>
                      </a: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 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October (Wed)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Session 2</a:t>
                      </a: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
4th November (Wed)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663700" algn="l"/>
                        </a:tabLst>
                        <a:defRPr b="0"/>
                      </a:pPr>
                      <a:r>
                        <a:rPr lang="en-GB"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10:00-12:00</a:t>
                      </a:r>
                    </a:p>
                  </a:txBody>
                  <a:tcPr marL="50800" marR="50800" marT="50800" marB="50800"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0057">
                <a:tc>
                  <a:txBody>
                    <a:bodyPr/>
                    <a:lstStyle/>
                    <a:p>
                      <a:pPr defTabSz="914400">
                        <a:tabLst>
                          <a:tab pos="1663700" algn="l"/>
                        </a:tabLst>
                        <a:defRPr b="0"/>
                      </a:pPr>
                      <a:r>
                        <a:rPr sz="4000" b="1" dirty="0">
                          <a:solidFill>
                            <a:srgbClr val="0A1C3E"/>
                          </a:solidFill>
                          <a:latin typeface="Helvetica"/>
                          <a:ea typeface="Helvetica"/>
                          <a:cs typeface="Helvetica"/>
                          <a:sym typeface="Helvetica"/>
                        </a:rPr>
                        <a:t>Topic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Introduction to OCR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  <a:ea typeface="Calibri"/>
                          <a:cs typeface="Calibri"/>
                        </a:rPr>
                        <a:t>Activity: OCR tools – </a:t>
                      </a:r>
                      <a:r>
                        <a:rPr lang="en-GB" sz="4400" dirty="0" err="1">
                          <a:solidFill>
                            <a:srgbClr val="002E5F"/>
                          </a:solidFill>
                          <a:ea typeface="Calibri"/>
                          <a:cs typeface="Calibri"/>
                        </a:rPr>
                        <a:t>Immarkus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marR="0" lvl="0" indent="-285750" algn="l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  <a:ea typeface="Calibri"/>
                          <a:cs typeface="Calibri"/>
                        </a:rPr>
                        <a:t>Challenges of OCR in practice</a:t>
                      </a: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tc>
                  <a:txBody>
                    <a:bodyPr/>
                    <a:lstStyle/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Review of programming basics 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Introduction to OCR packages</a:t>
                      </a:r>
                      <a:endParaRPr lang="en-GB" sz="4400" dirty="0">
                        <a:solidFill>
                          <a:srgbClr val="002E5F"/>
                        </a:solidFill>
                        <a:ea typeface="Calibri"/>
                        <a:cs typeface="Calibri"/>
                      </a:endParaRPr>
                    </a:p>
                    <a:p>
                      <a:pPr marL="429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GB" sz="4400" dirty="0">
                          <a:solidFill>
                            <a:srgbClr val="002E5F"/>
                          </a:solidFill>
                        </a:rPr>
                        <a:t>Working with OCR in Python &amp; R</a:t>
                      </a:r>
                      <a:endParaRPr sz="4400" dirty="0">
                        <a:solidFill>
                          <a:srgbClr val="0A1C3E"/>
                        </a:solidFill>
                        <a:latin typeface="Helvetica"/>
                        <a:ea typeface="Helvetica"/>
                        <a:cs typeface="Helvetica"/>
                        <a:sym typeface="Helvetica"/>
                      </a:endParaRPr>
                    </a:p>
                  </a:txBody>
                  <a:tcPr marL="50800" marR="50800" marT="50800" marB="50800" anchor="ctr" horzOverflow="overflow">
                    <a:solidFill>
                      <a:srgbClr val="D5D5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/>
          <p:cNvSpPr txBox="1"/>
          <p:nvPr/>
        </p:nvSpPr>
        <p:spPr>
          <a:xfrm>
            <a:off x="2004438" y="6110391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Introduction to </a:t>
            </a:r>
            <a:r>
              <a:rPr lang="en-GB" dirty="0"/>
              <a:t>OCR</a:t>
            </a:r>
            <a:endParaRPr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rogramming = Telling the computer what to do…"/>
          <p:cNvSpPr txBox="1"/>
          <p:nvPr/>
        </p:nvSpPr>
        <p:spPr>
          <a:xfrm>
            <a:off x="2944922" y="1420614"/>
            <a:ext cx="18494156" cy="1087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>
                <a:solidFill>
                  <a:srgbClr val="C00000"/>
                </a:solidFill>
              </a:rPr>
              <a:t>O</a:t>
            </a:r>
            <a:r>
              <a:rPr lang="en-GB" dirty="0"/>
              <a:t>ptical </a:t>
            </a:r>
            <a:r>
              <a:rPr lang="en-GB" dirty="0">
                <a:solidFill>
                  <a:srgbClr val="C00000"/>
                </a:solidFill>
              </a:rPr>
              <a:t>C</a:t>
            </a:r>
            <a:r>
              <a:rPr lang="en-GB" dirty="0"/>
              <a:t>haracter </a:t>
            </a:r>
            <a:r>
              <a:rPr lang="en-GB" dirty="0">
                <a:solidFill>
                  <a:srgbClr val="C00000"/>
                </a:solidFill>
              </a:rPr>
              <a:t>R</a:t>
            </a:r>
            <a:r>
              <a:rPr lang="en-GB" dirty="0"/>
              <a:t>ecognition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OCR is the technique to process images of text, such as written or printed documents, and produce machine-readable documents.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yntax"/>
          <p:cNvSpPr txBox="1"/>
          <p:nvPr/>
        </p:nvSpPr>
        <p:spPr>
          <a:xfrm>
            <a:off x="9408583" y="67419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7A9288-A904-19DB-7062-AEA9C7E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E390B-8C9B-E1FB-D47E-CE5C0525788C}"/>
              </a:ext>
            </a:extLst>
          </p:cNvPr>
          <p:cNvSpPr txBox="1"/>
          <p:nvPr/>
        </p:nvSpPr>
        <p:spPr>
          <a:xfrm>
            <a:off x="234967" y="14242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D2FCE-FDB9-5D01-412C-CD41AD177C8F}"/>
              </a:ext>
            </a:extLst>
          </p:cNvPr>
          <p:cNvSpPr txBox="1"/>
          <p:nvPr/>
        </p:nvSpPr>
        <p:spPr>
          <a:xfrm>
            <a:off x="667820" y="1885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88214FF-E8BC-51C5-7F54-2F28363EE63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070" y="6087562"/>
            <a:ext cx="3403046" cy="682569"/>
          </a:xfrm>
          <a:prstGeom prst="rect">
            <a:avLst/>
          </a:prstGeom>
          <a:noFill/>
        </p:spPr>
      </p:pic>
      <p:pic>
        <p:nvPicPr>
          <p:cNvPr id="12" name="Picture 11" descr="Live Text works inside word processors">
            <a:extLst>
              <a:ext uri="{FF2B5EF4-FFF2-40B4-BE49-F238E27FC236}">
                <a16:creationId xmlns:a16="http://schemas.microsoft.com/office/drawing/2014/main" id="{E1837CB5-6F54-1B7B-749E-88F394CAEA6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641" r="20599" b="170"/>
          <a:stretch>
            <a:fillRect/>
          </a:stretch>
        </p:blipFill>
        <p:spPr>
          <a:xfrm>
            <a:off x="17824942" y="2637351"/>
            <a:ext cx="5572447" cy="10394682"/>
          </a:xfrm>
          <a:prstGeom prst="rect">
            <a:avLst/>
          </a:prstGeom>
        </p:spPr>
      </p:pic>
      <p:sp>
        <p:nvSpPr>
          <p:cNvPr id="13" name="Programming = Telling the computer what to do…">
            <a:extLst>
              <a:ext uri="{FF2B5EF4-FFF2-40B4-BE49-F238E27FC236}">
                <a16:creationId xmlns:a16="http://schemas.microsoft.com/office/drawing/2014/main" id="{E00E8EC3-F013-A9C7-89D2-59078CEC986D}"/>
              </a:ext>
            </a:extLst>
          </p:cNvPr>
          <p:cNvSpPr txBox="1"/>
          <p:nvPr/>
        </p:nvSpPr>
        <p:spPr>
          <a:xfrm>
            <a:off x="852551" y="3944652"/>
            <a:ext cx="16624691" cy="7780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285750" indent="-285750">
              <a:spcAft>
                <a:spcPts val="1200"/>
              </a:spcAft>
              <a:buFont typeface="Arial,Sans-Serif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Scanning your passport at the airport.</a:t>
            </a:r>
            <a:endParaRPr lang="en-US" sz="6600" dirty="0">
              <a:ea typeface="+mn-lt"/>
              <a:cs typeface="+mn-lt"/>
            </a:endParaRPr>
          </a:p>
          <a:p>
            <a:pPr marL="285750" indent="-285750">
              <a:spcAft>
                <a:spcPts val="1200"/>
              </a:spcAft>
              <a:buFont typeface="Arial,Sans-Serif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Generate machine-readable text for text-to-speech technology.</a:t>
            </a:r>
            <a:endParaRPr lang="en-US" sz="3200" dirty="0"/>
          </a:p>
          <a:p>
            <a:pPr marL="285750" indent="-285750">
              <a:spcAft>
                <a:spcPts val="1200"/>
              </a:spcAft>
              <a:buFont typeface="Arial,Sans-Serif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Making physical archives searchable. </a:t>
            </a:r>
            <a:endParaRPr lang="en-US" sz="3200" dirty="0"/>
          </a:p>
          <a:p>
            <a:pPr marL="285750" indent="-285750">
              <a:spcAft>
                <a:spcPts val="1200"/>
              </a:spcAft>
              <a:buFont typeface="Arial,Sans-Serif" panose="020B0604020202020204" pitchFamily="34" charset="0"/>
              <a:buChar char="•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Creating a dataset of for text mining or text analysis. </a:t>
            </a:r>
            <a:endParaRPr lang="en-US" sz="32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9595-F651-8B0A-1C62-189B4DAE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OCR Workflow</a:t>
            </a: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EFB4808D-DF66-0374-F364-B215FE36C9C2}"/>
              </a:ext>
            </a:extLst>
          </p:cNvPr>
          <p:cNvSpPr txBox="1"/>
          <p:nvPr/>
        </p:nvSpPr>
        <p:spPr>
          <a:xfrm>
            <a:off x="1200251" y="4112889"/>
            <a:ext cx="21092160" cy="5490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Select the images to be scanned </a:t>
            </a:r>
            <a:endParaRPr lang="en-US" sz="6600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Scan the images with OCR software </a:t>
            </a:r>
            <a:endParaRPr lang="en-US" sz="6600" dirty="0"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Inspect and 'clean' the processed files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Calibri" panose="020F0502020204030204"/>
                <a:cs typeface="Calibri" panose="020F0502020204030204"/>
              </a:rPr>
              <a:t>Save the results for further use</a:t>
            </a:r>
            <a:endParaRPr lang="en-US" sz="66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1458004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1390-5408-4403-1F05-57E349D8A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C4B842E5-5B37-C540-6751-167DBF9A7135}"/>
              </a:ext>
            </a:extLst>
          </p:cNvPr>
          <p:cNvSpPr txBox="1"/>
          <p:nvPr/>
        </p:nvSpPr>
        <p:spPr>
          <a:xfrm>
            <a:off x="2004438" y="6110391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Activity 1 - Ready made OCR tool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745731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3B852-D0E3-F533-3EA6-54E2D3A0D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11BB-32A0-E394-395B-B00E1A267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55499B-724C-88FC-0826-8778331AB348}"/>
              </a:ext>
            </a:extLst>
          </p:cNvPr>
          <p:cNvSpPr txBox="1"/>
          <p:nvPr/>
        </p:nvSpPr>
        <p:spPr>
          <a:xfrm>
            <a:off x="545743" y="2637351"/>
            <a:ext cx="23838257" cy="6067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Download the dataset from </a:t>
            </a:r>
            <a:r>
              <a:rPr lang="en-US" sz="6600" dirty="0" err="1">
                <a:solidFill>
                  <a:srgbClr val="C00000"/>
                </a:solidFill>
              </a:rPr>
              <a:t>github</a:t>
            </a:r>
            <a:r>
              <a:rPr lang="en-US" sz="6600" dirty="0">
                <a:solidFill>
                  <a:srgbClr val="C00000"/>
                </a:solidFill>
              </a:rPr>
              <a:t> repo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Go to </a:t>
            </a:r>
            <a:r>
              <a:rPr lang="en-US" sz="6600" dirty="0">
                <a:hlinkClick r:id="rId2"/>
              </a:rPr>
              <a:t>https://immarkus.xmarkus.org/</a:t>
            </a:r>
            <a:endParaRPr lang="en-US" sz="6600" dirty="0"/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Click on Open New Folder, select the folder ”OCR dataset” </a:t>
            </a:r>
          </a:p>
          <a:p>
            <a:pPr marL="1143000" indent="-1143000">
              <a:buAutoNum type="arabicPeriod"/>
            </a:pPr>
            <a:endParaRPr kumimoji="0" lang="en-US" sz="6600" b="0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8A6985-A619-342E-56F3-A51A598C3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14" t="24932" r="11729" b="23333"/>
          <a:stretch>
            <a:fillRect/>
          </a:stretch>
        </p:blipFill>
        <p:spPr>
          <a:xfrm>
            <a:off x="1088315" y="7510554"/>
            <a:ext cx="11708382" cy="5169125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B0B84E8D-BE3E-0542-F677-DE88B15ADBF1}"/>
              </a:ext>
            </a:extLst>
          </p:cNvPr>
          <p:cNvSpPr/>
          <p:nvPr/>
        </p:nvSpPr>
        <p:spPr>
          <a:xfrm>
            <a:off x="2764716" y="9022080"/>
            <a:ext cx="5334000" cy="1578646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7" name="Picture 6" descr="A screenshot of a black box with white text&#10;&#10;AI-generated content may be incorrect.">
            <a:extLst>
              <a:ext uri="{FF2B5EF4-FFF2-40B4-BE49-F238E27FC236}">
                <a16:creationId xmlns:a16="http://schemas.microsoft.com/office/drawing/2014/main" id="{57623562-575D-199F-CBD4-5085EE6F9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1027" y="7675428"/>
            <a:ext cx="12027230" cy="4161320"/>
          </a:xfrm>
          <a:prstGeom prst="rect">
            <a:avLst/>
          </a:prstGeom>
        </p:spPr>
      </p:pic>
      <p:sp>
        <p:nvSpPr>
          <p:cNvPr id="11" name="Frame 10">
            <a:extLst>
              <a:ext uri="{FF2B5EF4-FFF2-40B4-BE49-F238E27FC236}">
                <a16:creationId xmlns:a16="http://schemas.microsoft.com/office/drawing/2014/main" id="{674F87A5-543A-702F-4D5E-42AFB8289BCA}"/>
              </a:ext>
            </a:extLst>
          </p:cNvPr>
          <p:cNvSpPr/>
          <p:nvPr/>
        </p:nvSpPr>
        <p:spPr>
          <a:xfrm>
            <a:off x="19992368" y="9538238"/>
            <a:ext cx="3411572" cy="1977197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AA9A12-3AB3-1AE8-4498-24CA612F6CBF}"/>
              </a:ext>
            </a:extLst>
          </p:cNvPr>
          <p:cNvSpPr txBox="1"/>
          <p:nvPr/>
        </p:nvSpPr>
        <p:spPr>
          <a:xfrm>
            <a:off x="18941083" y="11461329"/>
            <a:ext cx="4897174" cy="1593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Click “allow”</a:t>
            </a:r>
          </a:p>
        </p:txBody>
      </p:sp>
    </p:spTree>
    <p:extLst>
      <p:ext uri="{BB962C8B-B14F-4D97-AF65-F5344CB8AC3E}">
        <p14:creationId xmlns:p14="http://schemas.microsoft.com/office/powerpoint/2010/main" val="127724512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1118D-AC22-8B1E-AC38-B4A3C3254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368A8-F902-1D83-813A-0D37FF533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F96BDE32-A013-CECB-4158-89128DE90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51" y="2637351"/>
            <a:ext cx="5196840" cy="1084557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DDBF837-7B07-B466-71AE-4AE3D1481973}"/>
              </a:ext>
            </a:extLst>
          </p:cNvPr>
          <p:cNvSpPr txBox="1"/>
          <p:nvPr/>
        </p:nvSpPr>
        <p:spPr>
          <a:xfrm>
            <a:off x="7254240" y="2637351"/>
            <a:ext cx="17129760" cy="6067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Click on the magic wand icon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Auto Transcribe</a:t>
            </a:r>
          </a:p>
          <a:p>
            <a:pPr marL="1143000" indent="-1143000">
              <a:buAutoNum type="arabicPeriod"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</a:t>
            </a:r>
            <a:r>
              <a:rPr lang="en-US" sz="6600" dirty="0">
                <a:solidFill>
                  <a:srgbClr val="C00000"/>
                </a:solidFill>
              </a:rPr>
              <a:t>heck enable external AI tools</a:t>
            </a:r>
          </a:p>
          <a:p>
            <a:pPr marL="1143000" indent="-1143000">
              <a:buAutoNum type="arabicPeriod"/>
            </a:pPr>
            <a:r>
              <a:rPr kumimoji="0" lang="en-US" sz="6600" b="0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Select Service</a:t>
            </a:r>
          </a:p>
        </p:txBody>
      </p:sp>
    </p:spTree>
    <p:extLst>
      <p:ext uri="{BB962C8B-B14F-4D97-AF65-F5344CB8AC3E}">
        <p14:creationId xmlns:p14="http://schemas.microsoft.com/office/powerpoint/2010/main" val="474487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C48C-B13D-4B58-1467-9A10FEFBF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985B9-4FB8-385C-1FDA-7CFBD957C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474F8E-852F-90F6-1FFC-84BF9CDA3D8A}"/>
              </a:ext>
            </a:extLst>
          </p:cNvPr>
          <p:cNvSpPr txBox="1"/>
          <p:nvPr/>
        </p:nvSpPr>
        <p:spPr>
          <a:xfrm>
            <a:off x="7254240" y="2637351"/>
            <a:ext cx="17129760" cy="606730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Select </a:t>
            </a:r>
            <a:r>
              <a:rPr lang="en-US" sz="6600" dirty="0" err="1">
                <a:solidFill>
                  <a:srgbClr val="C00000"/>
                </a:solidFill>
              </a:rPr>
              <a:t>OCR.space</a:t>
            </a:r>
            <a:r>
              <a:rPr lang="en-US" sz="6600" dirty="0">
                <a:solidFill>
                  <a:srgbClr val="C00000"/>
                </a:solidFill>
              </a:rPr>
              <a:t> (free)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Choose content language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Run Transcription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Import to </a:t>
            </a:r>
            <a:r>
              <a:rPr lang="en-US" sz="6600" dirty="0" err="1">
                <a:solidFill>
                  <a:srgbClr val="C00000"/>
                </a:solidFill>
              </a:rPr>
              <a:t>Immarcus</a:t>
            </a:r>
            <a:endParaRPr lang="en-US" sz="6600" dirty="0">
              <a:solidFill>
                <a:srgbClr val="C000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FB66410-3C8C-5367-2C15-CA90C9AF1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0" y="2637350"/>
            <a:ext cx="6474460" cy="1086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18709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FEE37-35A7-398A-3F8E-113440A12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987E8-37AB-85F6-6065-945938259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– Out of the box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84AA82-EE1F-42EA-8FBD-9BBD22C887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6" y="2637350"/>
            <a:ext cx="20080554" cy="106398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9B1FAE-0594-1D77-AFD1-1DABB2E17FAA}"/>
              </a:ext>
            </a:extLst>
          </p:cNvPr>
          <p:cNvSpPr txBox="1"/>
          <p:nvPr/>
        </p:nvSpPr>
        <p:spPr>
          <a:xfrm>
            <a:off x="2706541" y="7957260"/>
            <a:ext cx="6778917" cy="30849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Export</a:t>
            </a:r>
          </a:p>
          <a:p>
            <a:pPr marL="1143000" indent="-1143000">
              <a:buAutoNum type="arabicPeriod"/>
            </a:pPr>
            <a:r>
              <a:rPr lang="en-US" sz="6600" dirty="0">
                <a:solidFill>
                  <a:srgbClr val="C00000"/>
                </a:solidFill>
              </a:rPr>
              <a:t>Select XLSX</a:t>
            </a: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FC9FBCE4-E3D0-FA46-8361-9601341B9201}"/>
              </a:ext>
            </a:extLst>
          </p:cNvPr>
          <p:cNvSpPr/>
          <p:nvPr/>
        </p:nvSpPr>
        <p:spPr>
          <a:xfrm>
            <a:off x="0" y="5424836"/>
            <a:ext cx="4389120" cy="1433163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07FD7562-4607-012D-AC09-BC28AAECC494}"/>
              </a:ext>
            </a:extLst>
          </p:cNvPr>
          <p:cNvSpPr/>
          <p:nvPr/>
        </p:nvSpPr>
        <p:spPr>
          <a:xfrm>
            <a:off x="16373526" y="11581796"/>
            <a:ext cx="4389120" cy="1433163"/>
          </a:xfrm>
          <a:prstGeom prst="frame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8668595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0B53F-1054-217E-4073-A50047E2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280F3A1A-32B6-598E-2879-F24F40C50CF1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Age and damage (stained or blurry)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Human errors and typos</a:t>
            </a:r>
            <a:endParaRPr lang="en-US" sz="6600" dirty="0">
              <a:solidFill>
                <a:srgbClr val="C00000"/>
              </a:solidFill>
              <a:ea typeface="+mn-lt"/>
              <a:cs typeface="+mn-lt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D20291-3E7D-19C7-E0EC-D55AE8459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Verdana Pro Cond"/>
                <a:ea typeface="+mn-lt"/>
                <a:cs typeface="+mn-lt"/>
              </a:rPr>
              <a:t> </a:t>
            </a:r>
            <a:r>
              <a:rPr lang="en-GB" dirty="0"/>
              <a:t>Challenges of OCR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50281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4B2F3-4DC9-6034-F1B4-17373F37F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A8C2F-6AFE-7EA6-2F1C-A3C57A998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Damaged archive</a:t>
            </a:r>
          </a:p>
        </p:txBody>
      </p:sp>
      <p:pic>
        <p:nvPicPr>
          <p:cNvPr id="4" name="Picture 3" descr="A document with text on it&#10;&#10;AI-generated content may be incorrect.">
            <a:extLst>
              <a:ext uri="{FF2B5EF4-FFF2-40B4-BE49-F238E27FC236}">
                <a16:creationId xmlns:a16="http://schemas.microsoft.com/office/drawing/2014/main" id="{C73FCDA8-2876-F197-BFCC-96E92B096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886" y="2637350"/>
            <a:ext cx="8141554" cy="10643399"/>
          </a:xfrm>
          <a:prstGeom prst="rect">
            <a:avLst/>
          </a:prstGeom>
        </p:spPr>
      </p:pic>
      <p:pic>
        <p:nvPicPr>
          <p:cNvPr id="5124" name="Picture 4" descr="11,900+ Old Book Text Stock Photos and Royalty-Free Pictures - iStock">
            <a:extLst>
              <a:ext uri="{FF2B5EF4-FFF2-40B4-BE49-F238E27FC236}">
                <a16:creationId xmlns:a16="http://schemas.microsoft.com/office/drawing/2014/main" id="{154E4104-9901-49FB-CCB3-513D30C4E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3155" y="2362828"/>
            <a:ext cx="8032555" cy="11353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1392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225A5-A433-D55A-AD83-779AF83E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132BBBCB-E5FB-4856-D816-152568128B41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Age and damage (stained or blurry)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Cursive fonts, 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Human errors and typos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486C41-A908-5FCA-455D-375FF59AB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Verdana Pro Cond"/>
                <a:ea typeface="+mn-lt"/>
                <a:cs typeface="+mn-lt"/>
              </a:rPr>
              <a:t> </a:t>
            </a:r>
            <a:r>
              <a:rPr lang="en-GB" dirty="0"/>
              <a:t>Challenges of OCR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2DB41DC-8FE4-9B95-9CF4-2B87DA0CFD43}"/>
              </a:ext>
            </a:extLst>
          </p:cNvPr>
          <p:cNvSpPr txBox="1">
            <a:spLocks/>
          </p:cNvSpPr>
          <p:nvPr/>
        </p:nvSpPr>
        <p:spPr>
          <a:xfrm>
            <a:off x="1352651" y="1356588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0" marR="0" indent="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GB" sz="8000" b="1" i="0" u="none" strike="noStrike" cap="none" spc="0" normalizeH="0" baseline="0" smtClean="0">
                <a:ln>
                  <a:noFill/>
                </a:ln>
                <a:solidFill>
                  <a:srgbClr val="0A1C3E"/>
                </a:solidFill>
                <a:effectLst/>
                <a:uFillTx/>
                <a:latin typeface="Helvetica"/>
                <a:ea typeface="Helvetica"/>
                <a:cs typeface="Helvetica"/>
                <a:sym typeface="Helvetica"/>
              </a:defRPr>
            </a:lvl1pPr>
            <a:lvl2pPr marL="0" marR="0" indent="457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2pPr>
            <a:lvl3pPr marL="0" marR="0" indent="914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3pPr>
            <a:lvl4pPr marL="0" marR="0" indent="1371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4pPr>
            <a:lvl5pPr marL="0" marR="0" indent="18288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5pPr>
            <a:lvl6pPr marL="0" marR="0" indent="22860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0" marR="0" indent="27432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0" marR="0" indent="32004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0" marR="0" indent="3657600" algn="l" defTabSz="2438338" rtl="0" latinLnBrk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500" b="1" i="0" u="none" strike="noStrike" cap="none" spc="-17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hangingPunct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455222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621E-E135-6110-7E67-8FDA94899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FB3B-FA80-856D-3390-6B5FEF099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Pictures and multi-languages</a:t>
            </a:r>
          </a:p>
        </p:txBody>
      </p:sp>
      <p:pic>
        <p:nvPicPr>
          <p:cNvPr id="6146" name="Picture 2" descr="PPT - Spanglish: Popular myths and linguistic reality PowerPoint Presentation - ID:216445">
            <a:extLst>
              <a:ext uri="{FF2B5EF4-FFF2-40B4-BE49-F238E27FC236}">
                <a16:creationId xmlns:a16="http://schemas.microsoft.com/office/drawing/2014/main" id="{195E3F80-525C-96CB-8AF6-B8DBEE6C0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1122" y="3017520"/>
            <a:ext cx="13004800" cy="975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black and white advertisement of a person smoking&#10;&#10;AI-generated content may be incorrect.">
            <a:extLst>
              <a:ext uri="{FF2B5EF4-FFF2-40B4-BE49-F238E27FC236}">
                <a16:creationId xmlns:a16="http://schemas.microsoft.com/office/drawing/2014/main" id="{EC9F3CB2-8958-39D6-9E7A-DBB53491F3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730" y="2407920"/>
            <a:ext cx="8185150" cy="1085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14489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FA56-8D65-1BF9-AE9C-FD4E3E06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DF97-C08D-797B-C8ED-B591AB3E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Verdana Pro Cond"/>
                <a:ea typeface="+mn-lt"/>
                <a:cs typeface="+mn-lt"/>
              </a:rPr>
              <a:t> </a:t>
            </a:r>
            <a:r>
              <a:rPr lang="en-GB" dirty="0"/>
              <a:t>Challenges of OCR</a:t>
            </a:r>
            <a:endParaRPr lang="en-US" dirty="0"/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D5C65430-DE06-D442-CD10-2668E2DC48B4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Age and damage (stained or blurry)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chemeClr val="tx1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Cursive fonts, 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Human errors and typos</a:t>
            </a:r>
          </a:p>
        </p:txBody>
      </p:sp>
    </p:spTree>
    <p:extLst>
      <p:ext uri="{BB962C8B-B14F-4D97-AF65-F5344CB8AC3E}">
        <p14:creationId xmlns:p14="http://schemas.microsoft.com/office/powerpoint/2010/main" val="66941621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4482A-91EC-75D2-6639-8BC5E5C47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EA492-7F9D-A157-26B6-798603F46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Cursive fonts, Handwritings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01718816-957C-814C-0385-5C2BBBD9A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2755" y="2637351"/>
            <a:ext cx="11352763" cy="1470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rchBook: Architectures of the Book -- Table of Contents">
            <a:extLst>
              <a:ext uri="{FF2B5EF4-FFF2-40B4-BE49-F238E27FC236}">
                <a16:creationId xmlns:a16="http://schemas.microsoft.com/office/drawing/2014/main" id="{D6318A9A-5FC7-4348-0595-624B924B3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3730" y="2407920"/>
            <a:ext cx="8443913" cy="137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5512371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017BE-F13F-3BB2-D3B2-78609F720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8837-875B-7C51-49D9-FC9AB4EBD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9600" dirty="0">
                <a:latin typeface="Verdana Pro Cond"/>
                <a:ea typeface="+mn-lt"/>
                <a:cs typeface="+mn-lt"/>
              </a:rPr>
              <a:t> </a:t>
            </a:r>
            <a:r>
              <a:rPr lang="en-GB" sz="9600" dirty="0"/>
              <a:t>Challenges of OCR</a:t>
            </a:r>
            <a:endParaRPr lang="en-US" sz="9600" dirty="0">
              <a:ea typeface="Calibri"/>
              <a:cs typeface="Calibri"/>
            </a:endParaRPr>
          </a:p>
        </p:txBody>
      </p:sp>
      <p:sp>
        <p:nvSpPr>
          <p:cNvPr id="4" name="Programming = Telling the computer what to do…">
            <a:extLst>
              <a:ext uri="{FF2B5EF4-FFF2-40B4-BE49-F238E27FC236}">
                <a16:creationId xmlns:a16="http://schemas.microsoft.com/office/drawing/2014/main" id="{5B9973A7-77A9-FE52-9A93-776D86AF4E07}"/>
              </a:ext>
            </a:extLst>
          </p:cNvPr>
          <p:cNvSpPr txBox="1"/>
          <p:nvPr/>
        </p:nvSpPr>
        <p:spPr>
          <a:xfrm>
            <a:off x="1639671" y="3611292"/>
            <a:ext cx="21092160" cy="78954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Accuracy depends on dataset quality. Some common sources of error include: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Age and damage (stained or blurry)</a:t>
            </a:r>
            <a:endParaRPr lang="en-US" sz="6600" dirty="0">
              <a:solidFill>
                <a:srgbClr val="C00000"/>
              </a:solidFill>
              <a:ea typeface="+mn-lt"/>
              <a:cs typeface="+mn-lt"/>
            </a:endParaRP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Mixed text and images, or multiple languages</a:t>
            </a:r>
          </a:p>
          <a:p>
            <a:pPr marL="514350" indent="-514350">
              <a:buAutoNum type="arabicPeriod"/>
            </a:pPr>
            <a:r>
              <a:rPr lang="en-US" sz="6600" dirty="0">
                <a:solidFill>
                  <a:srgbClr val="002E5F"/>
                </a:solidFill>
                <a:ea typeface="+mn-lt"/>
                <a:cs typeface="+mn-lt"/>
              </a:rPr>
              <a:t>Handwriting</a:t>
            </a:r>
          </a:p>
          <a:p>
            <a:pPr marL="514350" indent="-514350">
              <a:buFontTx/>
              <a:buAutoNum type="arabicPeriod"/>
            </a:pPr>
            <a:r>
              <a:rPr lang="en-US" sz="6600" dirty="0">
                <a:solidFill>
                  <a:srgbClr val="C00000"/>
                </a:solidFill>
                <a:ea typeface="+mn-lt"/>
                <a:cs typeface="+mn-lt"/>
              </a:rPr>
              <a:t>Human errors and typos</a:t>
            </a:r>
            <a:endParaRPr lang="en-US" sz="6600" dirty="0">
              <a:solidFill>
                <a:srgbClr val="002E5F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0831403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1BFEF-6623-90B8-C7C7-83A6B8C81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yntax">
            <a:extLst>
              <a:ext uri="{FF2B5EF4-FFF2-40B4-BE49-F238E27FC236}">
                <a16:creationId xmlns:a16="http://schemas.microsoft.com/office/drawing/2014/main" id="{7F5CAD49-8B3C-5C1B-95B3-1B2989C2DE97}"/>
              </a:ext>
            </a:extLst>
          </p:cNvPr>
          <p:cNvSpPr txBox="1"/>
          <p:nvPr/>
        </p:nvSpPr>
        <p:spPr>
          <a:xfrm>
            <a:off x="9408583" y="674194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66AD8D-047B-D082-200B-007B7164B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Human Errors -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1C6A6-C9E7-06B3-9363-CDFA687EA8FB}"/>
              </a:ext>
            </a:extLst>
          </p:cNvPr>
          <p:cNvSpPr txBox="1"/>
          <p:nvPr/>
        </p:nvSpPr>
        <p:spPr>
          <a:xfrm>
            <a:off x="234967" y="142423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Integral CF Bold" panose="000008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76BDF-16B3-AA40-47CF-5BCEC2CD418A}"/>
              </a:ext>
            </a:extLst>
          </p:cNvPr>
          <p:cNvSpPr txBox="1"/>
          <p:nvPr/>
        </p:nvSpPr>
        <p:spPr>
          <a:xfrm>
            <a:off x="667820" y="18859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solidFill>
                <a:srgbClr val="002E5F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02D3E0-C297-AA48-394C-E201E45A4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1070" y="6087562"/>
            <a:ext cx="3403046" cy="682569"/>
          </a:xfrm>
          <a:prstGeom prst="rect">
            <a:avLst/>
          </a:prstGeom>
          <a:noFill/>
        </p:spPr>
      </p:pic>
      <p:pic>
        <p:nvPicPr>
          <p:cNvPr id="26" name="Picture 25" descr="A sign with white text&#10;&#10;AI-generated content may be incorrect.">
            <a:extLst>
              <a:ext uri="{FF2B5EF4-FFF2-40B4-BE49-F238E27FC236}">
                <a16:creationId xmlns:a16="http://schemas.microsoft.com/office/drawing/2014/main" id="{92E21B67-0826-69AD-DDCD-4456E117A0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1122" y="3411220"/>
            <a:ext cx="15461755" cy="853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32041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D00AC-233E-9738-ADF0-9168E7F9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Errors - example</a:t>
            </a:r>
          </a:p>
        </p:txBody>
      </p:sp>
      <p:pic>
        <p:nvPicPr>
          <p:cNvPr id="3074" name="Picture 2" descr="User attachment">
            <a:extLst>
              <a:ext uri="{FF2B5EF4-FFF2-40B4-BE49-F238E27FC236}">
                <a16:creationId xmlns:a16="http://schemas.microsoft.com/office/drawing/2014/main" id="{63152840-7799-AEF6-8872-5953A6FB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420" y="3043587"/>
            <a:ext cx="13599160" cy="1019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782673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3D41E-DBFC-A391-E051-304DE9130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B95E-363A-1B84-E1E1-0F08A40B3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Human Errors - example</a:t>
            </a:r>
          </a:p>
        </p:txBody>
      </p:sp>
      <p:pic>
        <p:nvPicPr>
          <p:cNvPr id="4098" name="Picture 2" descr="American road painters were left red-faced after they painstakingly inked the world 'SHCOOL' outside a high school in North Carolina. ">
            <a:extLst>
              <a:ext uri="{FF2B5EF4-FFF2-40B4-BE49-F238E27FC236}">
                <a16:creationId xmlns:a16="http://schemas.microsoft.com/office/drawing/2014/main" id="{478AF45F-B565-430C-2A76-019763645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240" y="3167004"/>
            <a:ext cx="15143480" cy="948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2491866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448F6-9226-1D62-9724-50647F8C4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>
            <a:extLst>
              <a:ext uri="{FF2B5EF4-FFF2-40B4-BE49-F238E27FC236}">
                <a16:creationId xmlns:a16="http://schemas.microsoft.com/office/drawing/2014/main" id="{3B793C2E-8E46-9F4B-924D-657EBE8F4C83}"/>
              </a:ext>
            </a:extLst>
          </p:cNvPr>
          <p:cNvSpPr txBox="1"/>
          <p:nvPr/>
        </p:nvSpPr>
        <p:spPr>
          <a:xfrm>
            <a:off x="1892055" y="6068040"/>
            <a:ext cx="21971000" cy="1579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9600" dirty="0"/>
              <a:t>There is no universal solution….</a:t>
            </a:r>
          </a:p>
        </p:txBody>
      </p:sp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3006D67A-EC35-1DF1-1F40-3931DC106CA6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4442713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0A843-9F1B-092E-9D58-69D31E058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410A7927-8129-8503-FC9B-E23BEF064C45}"/>
              </a:ext>
            </a:extLst>
          </p:cNvPr>
          <p:cNvSpPr txBox="1"/>
          <p:nvPr/>
        </p:nvSpPr>
        <p:spPr>
          <a:xfrm>
            <a:off x="2004437" y="5324342"/>
            <a:ext cx="20375125" cy="3067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Clean up the dataset </a:t>
            </a:r>
            <a:r>
              <a:rPr lang="en-GB" dirty="0">
                <a:highlight>
                  <a:srgbClr val="FFFF00"/>
                </a:highlight>
              </a:rPr>
              <a:t>before</a:t>
            </a:r>
            <a:r>
              <a:rPr lang="en-GB" dirty="0"/>
              <a:t> OCR</a:t>
            </a:r>
          </a:p>
          <a:p>
            <a:r>
              <a:rPr lang="en-GB" sz="6600" b="0" dirty="0"/>
              <a:t>avoid rubbish in, rubbish out</a:t>
            </a:r>
            <a:endParaRPr sz="6600" b="0" dirty="0"/>
          </a:p>
        </p:txBody>
      </p:sp>
    </p:spTree>
    <p:extLst>
      <p:ext uri="{BB962C8B-B14F-4D97-AF65-F5344CB8AC3E}">
        <p14:creationId xmlns:p14="http://schemas.microsoft.com/office/powerpoint/2010/main" val="1152665166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60686-C6F3-7185-9E81-6245597B4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6FE2AF33-62DF-55E2-3011-6868CB04EE50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5F8A799-B109-2927-1254-552906A5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Inspect the data– scanning quality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3DABC-5F07-FC7B-92F4-5970233D5C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613" y="2820231"/>
            <a:ext cx="7541138" cy="10058400"/>
          </a:xfrm>
          <a:prstGeom prst="rect">
            <a:avLst/>
          </a:prstGeom>
        </p:spPr>
      </p:pic>
      <p:pic>
        <p:nvPicPr>
          <p:cNvPr id="8" name="Picture 7" descr="A page of a book&#10;&#10;AI-generated content may be incorrect.">
            <a:extLst>
              <a:ext uri="{FF2B5EF4-FFF2-40B4-BE49-F238E27FC236}">
                <a16:creationId xmlns:a16="http://schemas.microsoft.com/office/drawing/2014/main" id="{E4BA3504-50E5-B7C8-0FDE-863013ECC7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7723" y="2820231"/>
            <a:ext cx="6584917" cy="1005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305316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8A0F4-FF95-FAD6-0DF8-FD9FEE71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0819E7C8-CF47-4B43-B488-BE454E357CEF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0C815A-73D3-79D8-9E3C-BCA5A877E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Inspect the data– scanning quality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046800-68A9-657B-6942-4E234975E9FB}"/>
              </a:ext>
            </a:extLst>
          </p:cNvPr>
          <p:cNvSpPr txBox="1"/>
          <p:nvPr/>
        </p:nvSpPr>
        <p:spPr>
          <a:xfrm>
            <a:off x="2185085" y="4986915"/>
            <a:ext cx="20001331" cy="515211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GB" sz="6000" dirty="0">
                <a:solidFill>
                  <a:srgbClr val="02214C"/>
                </a:solidFill>
                <a:effectLst/>
                <a:latin typeface="Helvetica" pitchFamily="2" charset="0"/>
              </a:rPr>
              <a:t>Image resolution</a:t>
            </a:r>
          </a:p>
          <a:p>
            <a:pPr>
              <a:buNone/>
            </a:pPr>
            <a:r>
              <a:rPr lang="en-GB" sz="6000" dirty="0">
                <a:solidFill>
                  <a:srgbClr val="000000"/>
                </a:solidFill>
                <a:effectLst/>
                <a:latin typeface="Helvetica" pitchFamily="2" charset="0"/>
              </a:rPr>
              <a:t>300 DPI is often used as a benchmark for good quality</a:t>
            </a:r>
          </a:p>
          <a:p>
            <a:pPr>
              <a:buNone/>
            </a:pPr>
            <a:r>
              <a:rPr lang="en-GB" sz="6000" dirty="0">
                <a:solidFill>
                  <a:srgbClr val="000000"/>
                </a:solidFill>
                <a:effectLst/>
                <a:latin typeface="Helvetica" pitchFamily="2" charset="0"/>
              </a:rPr>
              <a:t>printing reproducibility for photographs, but this may vary</a:t>
            </a:r>
          </a:p>
          <a:p>
            <a:pPr>
              <a:buNone/>
            </a:pPr>
            <a:r>
              <a:rPr lang="en-GB" sz="6000" dirty="0">
                <a:solidFill>
                  <a:srgbClr val="0B4CB4"/>
                </a:solidFill>
                <a:effectLst/>
                <a:latin typeface="Helvetica" pitchFamily="2" charset="0"/>
              </a:rPr>
              <a:t>Ex. National archive</a:t>
            </a:r>
          </a:p>
        </p:txBody>
      </p:sp>
    </p:spTree>
    <p:extLst>
      <p:ext uri="{BB962C8B-B14F-4D97-AF65-F5344CB8AC3E}">
        <p14:creationId xmlns:p14="http://schemas.microsoft.com/office/powerpoint/2010/main" val="316107791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D2B1A-3765-456F-1390-2E5268C1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3638A7-CE69-398F-7C90-B43758201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500" y="1079500"/>
            <a:ext cx="21971000" cy="1433163"/>
          </a:xfrm>
        </p:spPr>
        <p:txBody>
          <a:bodyPr anchor="ctr">
            <a:normAutofit/>
          </a:bodyPr>
          <a:lstStyle/>
          <a:p>
            <a:r>
              <a:rPr lang="en-GB"/>
              <a:t>Inspect the image - language</a:t>
            </a:r>
            <a:endParaRPr lang="en-US" dirty="0"/>
          </a:p>
        </p:txBody>
      </p:sp>
      <p:pic>
        <p:nvPicPr>
          <p:cNvPr id="11266" name="Picture 2" descr="German textbooks: how they've changed! - Multilingual Mum">
            <a:extLst>
              <a:ext uri="{FF2B5EF4-FFF2-40B4-BE49-F238E27FC236}">
                <a16:creationId xmlns:a16="http://schemas.microsoft.com/office/drawing/2014/main" id="{0474288E-2334-BF15-A888-3A2FF3203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01" r="-1" b="20119"/>
          <a:stretch>
            <a:fillRect/>
          </a:stretch>
        </p:blipFill>
        <p:spPr bwMode="auto">
          <a:xfrm>
            <a:off x="1587500" y="3434683"/>
            <a:ext cx="10795000" cy="870508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47C594AC-97BD-F350-F428-B0FEE8133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24" r="6540"/>
          <a:stretch>
            <a:fillRect/>
          </a:stretch>
        </p:blipFill>
        <p:spPr>
          <a:xfrm>
            <a:off x="12382500" y="3931412"/>
            <a:ext cx="10795000" cy="8705088"/>
          </a:xfrm>
          <a:prstGeom prst="rect">
            <a:avLst/>
          </a:prstGeom>
          <a:noFill/>
          <a:ln w="12700">
            <a:miter lim="400000"/>
          </a:ln>
        </p:spPr>
      </p:pic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F15F06FF-2314-252F-2991-E23E256483DB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69166634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CFC75-EEDB-863A-B0DF-F1D56B71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4CC40C99-0676-5F5A-8733-5D08B3B106CB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02BB25-2B5A-D3A1-9049-26D95F703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Inspect the image - typesetting</a:t>
            </a:r>
            <a:br>
              <a:rPr lang="en-GB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9BC031-1340-CFA2-F4F8-8EB525733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033" y="2845663"/>
            <a:ext cx="10972406" cy="9132977"/>
          </a:xfrm>
          <a:prstGeom prst="rect">
            <a:avLst/>
          </a:prstGeom>
        </p:spPr>
      </p:pic>
      <p:pic>
        <p:nvPicPr>
          <p:cNvPr id="8" name="Picture 7" descr="A close-up of a newspaper&#10;&#10;AI-generated content may be incorrect.">
            <a:extLst>
              <a:ext uri="{FF2B5EF4-FFF2-40B4-BE49-F238E27FC236}">
                <a16:creationId xmlns:a16="http://schemas.microsoft.com/office/drawing/2014/main" id="{3977291C-D3A6-3B76-5EAB-F360919622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87" t="37769" r="28677" b="9806"/>
          <a:stretch>
            <a:fillRect/>
          </a:stretch>
        </p:blipFill>
        <p:spPr>
          <a:xfrm>
            <a:off x="14386560" y="2637351"/>
            <a:ext cx="7775407" cy="93412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C04D8B4-D978-94F8-C4E1-9FB8C2DFBBF5}"/>
              </a:ext>
            </a:extLst>
          </p:cNvPr>
          <p:cNvSpPr txBox="1"/>
          <p:nvPr/>
        </p:nvSpPr>
        <p:spPr>
          <a:xfrm>
            <a:off x="5406834" y="11714927"/>
            <a:ext cx="6778917" cy="1593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</a:rPr>
              <a:t>vertical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1DF03-7230-E193-E26C-AF90449A4E00}"/>
              </a:ext>
            </a:extLst>
          </p:cNvPr>
          <p:cNvSpPr txBox="1"/>
          <p:nvPr/>
        </p:nvSpPr>
        <p:spPr>
          <a:xfrm>
            <a:off x="13868400" y="11714927"/>
            <a:ext cx="9838791" cy="1593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sz="6600" dirty="0">
                <a:solidFill>
                  <a:srgbClr val="C00000"/>
                </a:solidFill>
              </a:rPr>
              <a:t>Multiple columns/ blocks</a:t>
            </a:r>
          </a:p>
        </p:txBody>
      </p:sp>
    </p:spTree>
    <p:extLst>
      <p:ext uri="{BB962C8B-B14F-4D97-AF65-F5344CB8AC3E}">
        <p14:creationId xmlns:p14="http://schemas.microsoft.com/office/powerpoint/2010/main" val="1335662991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3F31-49C6-84D4-6D19-7BDD44D59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Lets get programming…">
            <a:extLst>
              <a:ext uri="{FF2B5EF4-FFF2-40B4-BE49-F238E27FC236}">
                <a16:creationId xmlns:a16="http://schemas.microsoft.com/office/drawing/2014/main" id="{FB0C0571-5E8F-AD8A-0AFA-83DCB3DBC3E2}"/>
              </a:ext>
            </a:extLst>
          </p:cNvPr>
          <p:cNvSpPr txBox="1"/>
          <p:nvPr/>
        </p:nvSpPr>
        <p:spPr>
          <a:xfrm>
            <a:off x="2332946" y="4102977"/>
            <a:ext cx="17429044" cy="379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8000" b="1" dirty="0">
              <a:solidFill>
                <a:srgbClr val="0A1C3E"/>
              </a:solidFill>
              <a:latin typeface="Helvetica"/>
              <a:sym typeface="Helvetica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8000" b="1" dirty="0">
                <a:solidFill>
                  <a:srgbClr val="0A1C3E"/>
                </a:solidFill>
                <a:latin typeface="Helvetica"/>
                <a:sym typeface="Helvetica"/>
              </a:rPr>
              <a:t>Session 1a: </a:t>
            </a:r>
            <a:br>
              <a:rPr lang="en-GB" sz="8000" b="1" dirty="0">
                <a:solidFill>
                  <a:srgbClr val="0A1C3E"/>
                </a:solidFill>
                <a:latin typeface="Helvetica"/>
                <a:sym typeface="Helvetica"/>
              </a:rPr>
            </a:br>
            <a:r>
              <a:rPr lang="en-GB" sz="8000" b="1" dirty="0">
                <a:solidFill>
                  <a:srgbClr val="0A1C3E"/>
                </a:solidFill>
                <a:latin typeface="Helvetica"/>
                <a:sym typeface="Helvetica"/>
              </a:rPr>
              <a:t>From Running to Writing</a:t>
            </a:r>
          </a:p>
        </p:txBody>
      </p:sp>
      <p:grpSp>
        <p:nvGrpSpPr>
          <p:cNvPr id="298" name="Group">
            <a:extLst>
              <a:ext uri="{FF2B5EF4-FFF2-40B4-BE49-F238E27FC236}">
                <a16:creationId xmlns:a16="http://schemas.microsoft.com/office/drawing/2014/main" id="{7FE575FD-C1D1-B6CA-2D73-9A54B6B90AB4}"/>
              </a:ext>
            </a:extLst>
          </p:cNvPr>
          <p:cNvGrpSpPr/>
          <p:nvPr/>
        </p:nvGrpSpPr>
        <p:grpSpPr>
          <a:xfrm>
            <a:off x="17439286" y="9133464"/>
            <a:ext cx="6306233" cy="4582536"/>
            <a:chOff x="0" y="0"/>
            <a:chExt cx="6306232" cy="4582534"/>
          </a:xfrm>
        </p:grpSpPr>
        <p:grpSp>
          <p:nvGrpSpPr>
            <p:cNvPr id="294" name="Group">
              <a:extLst>
                <a:ext uri="{FF2B5EF4-FFF2-40B4-BE49-F238E27FC236}">
                  <a16:creationId xmlns:a16="http://schemas.microsoft.com/office/drawing/2014/main" id="{FF2D79D7-027D-24D6-DAD2-5AEA1ED3783C}"/>
                </a:ext>
              </a:extLst>
            </p:cNvPr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292" name="Notebook">
                <a:extLst>
                  <a:ext uri="{FF2B5EF4-FFF2-40B4-BE49-F238E27FC236}">
                    <a16:creationId xmlns:a16="http://schemas.microsoft.com/office/drawing/2014/main" id="{94CD4AF0-9A34-3BE5-4C60-9FD16FC0ADBC}"/>
                  </a:ext>
                </a:extLst>
              </p:cNvPr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3" name="Snake">
                <a:extLst>
                  <a:ext uri="{FF2B5EF4-FFF2-40B4-BE49-F238E27FC236}">
                    <a16:creationId xmlns:a16="http://schemas.microsoft.com/office/drawing/2014/main" id="{0E888C32-BB69-ACFB-96A0-6FD505EB616A}"/>
                  </a:ext>
                </a:extLst>
              </p:cNvPr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97" name="Group">
              <a:extLst>
                <a:ext uri="{FF2B5EF4-FFF2-40B4-BE49-F238E27FC236}">
                  <a16:creationId xmlns:a16="http://schemas.microsoft.com/office/drawing/2014/main" id="{35F0CEF7-F921-5F06-941D-15061755D027}"/>
                </a:ext>
              </a:extLst>
            </p:cNvPr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295" name="Scuba Diving">
                <a:extLst>
                  <a:ext uri="{FF2B5EF4-FFF2-40B4-BE49-F238E27FC236}">
                    <a16:creationId xmlns:a16="http://schemas.microsoft.com/office/drawing/2014/main" id="{2CA7C95D-E392-895E-A7C5-E470E1E2F7E6}"/>
                  </a:ext>
                </a:extLst>
              </p:cNvPr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6" name="Scuba Diving">
                <a:extLst>
                  <a:ext uri="{FF2B5EF4-FFF2-40B4-BE49-F238E27FC236}">
                    <a16:creationId xmlns:a16="http://schemas.microsoft.com/office/drawing/2014/main" id="{445B32BA-D5A2-73BC-2D26-E5FC80681E48}"/>
                  </a:ext>
                </a:extLst>
              </p:cNvPr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A6414C0A-6E8F-E45A-53BD-08384F3B74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Coding – Python or 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79847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C03D0-C8D7-8AFC-640A-BA4E6970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Introduction to Noteable and Python">
            <a:extLst>
              <a:ext uri="{FF2B5EF4-FFF2-40B4-BE49-F238E27FC236}">
                <a16:creationId xmlns:a16="http://schemas.microsoft.com/office/drawing/2014/main" id="{B967C3E6-7E16-736A-E423-D56BA6370862}"/>
              </a:ext>
            </a:extLst>
          </p:cNvPr>
          <p:cNvSpPr txBox="1"/>
          <p:nvPr/>
        </p:nvSpPr>
        <p:spPr>
          <a:xfrm>
            <a:off x="2004437" y="6110390"/>
            <a:ext cx="20375125" cy="149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GB" dirty="0"/>
              <a:t>Clean up the dataset </a:t>
            </a:r>
            <a:r>
              <a:rPr lang="en-GB" dirty="0">
                <a:highlight>
                  <a:srgbClr val="FFFF00"/>
                </a:highlight>
              </a:rPr>
              <a:t>after</a:t>
            </a:r>
            <a:r>
              <a:rPr lang="en-GB" dirty="0"/>
              <a:t> OCR</a:t>
            </a:r>
          </a:p>
        </p:txBody>
      </p:sp>
    </p:spTree>
    <p:extLst>
      <p:ext uri="{BB962C8B-B14F-4D97-AF65-F5344CB8AC3E}">
        <p14:creationId xmlns:p14="http://schemas.microsoft.com/office/powerpoint/2010/main" val="194987219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Our choice of interpreter throughout the week will be Jupyter Notebooks. These have many benefits:…"/>
          <p:cNvSpPr txBox="1"/>
          <p:nvPr/>
        </p:nvSpPr>
        <p:spPr>
          <a:xfrm>
            <a:off x="1282455" y="3384272"/>
            <a:ext cx="21971000" cy="87203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Regex used in many different programming environments for pattern matching. </a:t>
            </a:r>
            <a:br>
              <a:rPr lang="en-GB" dirty="0"/>
            </a:br>
            <a:endParaRPr lang="en-GB" dirty="0"/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Use a sequence of characters to define a search to match strings</a:t>
            </a:r>
            <a:br>
              <a:rPr lang="en-GB" dirty="0"/>
            </a:br>
            <a:endParaRPr lang="en-GB" dirty="0"/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Match on types of characters and patterns to remove, or replace them</a:t>
            </a:r>
          </a:p>
        </p:txBody>
      </p:sp>
      <p:sp>
        <p:nvSpPr>
          <p:cNvPr id="253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F968547-3DCB-1F9E-B6D9-90505BA17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Regex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535AD-C530-C0AE-82FF-4815F57AD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7035F852-6618-5A6B-7B6C-4E47D9408319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FEBF51-79D7-1D4A-0B88-9DB44761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Regex</a:t>
            </a:r>
            <a:endParaRPr lang="en-US" dirty="0"/>
          </a:p>
        </p:txBody>
      </p:sp>
      <p:pic>
        <p:nvPicPr>
          <p:cNvPr id="2" name="Picture 1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51468952-92B7-9111-1DDB-7D69E2E36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8529" y="2637351"/>
            <a:ext cx="10220034" cy="1105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886198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92E3-8181-7F19-490E-18F44938C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Jupyter Notebooks">
            <a:extLst>
              <a:ext uri="{FF2B5EF4-FFF2-40B4-BE49-F238E27FC236}">
                <a16:creationId xmlns:a16="http://schemas.microsoft.com/office/drawing/2014/main" id="{D5A6C090-9EAB-7E04-00C8-C30EF920A695}"/>
              </a:ext>
            </a:extLst>
          </p:cNvPr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A7351D-E69C-7E12-CCCB-10B33B5D1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Regex</a:t>
            </a:r>
            <a:endParaRPr lang="en-US" dirty="0"/>
          </a:p>
        </p:txBody>
      </p:sp>
      <p:pic>
        <p:nvPicPr>
          <p:cNvPr id="3" name="Picture 11">
            <a:extLst>
              <a:ext uri="{FF2B5EF4-FFF2-40B4-BE49-F238E27FC236}">
                <a16:creationId xmlns:a16="http://schemas.microsoft.com/office/drawing/2014/main" id="{A3EC09FB-4FD1-8825-B4C6-8258174C7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09" y="2637351"/>
            <a:ext cx="16046551" cy="1017282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E48FEE-F25A-8E8A-4827-66B66A09471C}"/>
              </a:ext>
            </a:extLst>
          </p:cNvPr>
          <p:cNvSpPr txBox="1"/>
          <p:nvPr/>
        </p:nvSpPr>
        <p:spPr>
          <a:xfrm>
            <a:off x="16824960" y="3318570"/>
            <a:ext cx="6705600" cy="93256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b="1" dirty="0">
                <a:solidFill>
                  <a:srgbClr val="0A1C3E"/>
                </a:solidFill>
                <a:latin typeface="Helvetica"/>
              </a:rPr>
              <a:t>Useful sites for regex</a:t>
            </a:r>
            <a:br>
              <a:rPr lang="en-US" sz="4000" b="1" dirty="0">
                <a:solidFill>
                  <a:srgbClr val="0A1C3E"/>
                </a:solidFill>
                <a:latin typeface="Helvetica"/>
              </a:rPr>
            </a:br>
            <a:endParaRPr lang="en-US" sz="4000" b="1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dirty="0">
                <a:solidFill>
                  <a:srgbClr val="0A1C3E"/>
                </a:solidFill>
                <a:latin typeface="Helvetica"/>
                <a:hlinkClick r:id="rId3"/>
              </a:rPr>
              <a:t>https://programminghistorian.org/en/lessons/cleaning-ocrd-text-with-regular-expressions </a:t>
            </a:r>
            <a:endParaRPr lang="en-US" sz="4000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4000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dirty="0">
                <a:solidFill>
                  <a:srgbClr val="0A1C3E"/>
                </a:solidFill>
                <a:latin typeface="Helvetica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https://programminghistorian.org/en/lessons/understanding-regular-expressions</a:t>
            </a:r>
            <a:r>
              <a:rPr lang="en-US" sz="4000" dirty="0">
                <a:solidFill>
                  <a:srgbClr val="0A1C3E"/>
                </a:solidFill>
                <a:latin typeface="Helvetica"/>
              </a:rPr>
              <a:t> </a:t>
            </a: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US" sz="4000" dirty="0">
              <a:solidFill>
                <a:srgbClr val="0A1C3E"/>
              </a:solidFill>
              <a:latin typeface="Helvetica"/>
            </a:endParaRPr>
          </a:p>
          <a:p>
            <a:pPr marL="857250" indent="-857250" defTabSz="127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sz="4000" dirty="0">
                <a:solidFill>
                  <a:srgbClr val="0A1C3E"/>
                </a:solidFill>
                <a:latin typeface="Helvetica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https://librarycarpentry.org/lc-data-intro/01-regular-expressions/</a:t>
            </a:r>
            <a:r>
              <a:rPr lang="en-US" sz="4000" dirty="0">
                <a:solidFill>
                  <a:srgbClr val="0A1C3E"/>
                </a:solidFill>
                <a:latin typeface="Helvetica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383483132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Lets get programming…"/>
          <p:cNvSpPr txBox="1"/>
          <p:nvPr/>
        </p:nvSpPr>
        <p:spPr>
          <a:xfrm>
            <a:off x="2332946" y="4102977"/>
            <a:ext cx="17429044" cy="37959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8000" b="1" dirty="0">
              <a:solidFill>
                <a:srgbClr val="0A1C3E"/>
              </a:solidFill>
              <a:latin typeface="Helvetica"/>
              <a:sym typeface="Helvetica"/>
            </a:endParaRP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8000" b="1" dirty="0">
                <a:solidFill>
                  <a:srgbClr val="0A1C3E"/>
                </a:solidFill>
                <a:latin typeface="Helvetica"/>
                <a:sym typeface="Helvetica"/>
              </a:rPr>
              <a:t>Session 1a: </a:t>
            </a:r>
            <a:br>
              <a:rPr lang="en-GB" sz="8000" b="1" dirty="0">
                <a:solidFill>
                  <a:srgbClr val="0A1C3E"/>
                </a:solidFill>
                <a:latin typeface="Helvetica"/>
                <a:sym typeface="Helvetica"/>
              </a:rPr>
            </a:br>
            <a:r>
              <a:rPr lang="en-GB" sz="8000" b="1" dirty="0">
                <a:solidFill>
                  <a:srgbClr val="0A1C3E"/>
                </a:solidFill>
                <a:latin typeface="Helvetica"/>
                <a:sym typeface="Helvetica"/>
              </a:rPr>
              <a:t>From Running to Writing</a:t>
            </a:r>
          </a:p>
        </p:txBody>
      </p:sp>
      <p:grpSp>
        <p:nvGrpSpPr>
          <p:cNvPr id="298" name="Group"/>
          <p:cNvGrpSpPr/>
          <p:nvPr/>
        </p:nvGrpSpPr>
        <p:grpSpPr>
          <a:xfrm>
            <a:off x="17439286" y="9133464"/>
            <a:ext cx="6306233" cy="4582536"/>
            <a:chOff x="0" y="0"/>
            <a:chExt cx="6306232" cy="4582534"/>
          </a:xfrm>
        </p:grpSpPr>
        <p:grpSp>
          <p:nvGrpSpPr>
            <p:cNvPr id="294" name="Group"/>
            <p:cNvGrpSpPr/>
            <p:nvPr/>
          </p:nvGrpSpPr>
          <p:grpSpPr>
            <a:xfrm>
              <a:off x="3660077" y="1550128"/>
              <a:ext cx="2646156" cy="1482279"/>
              <a:chOff x="0" y="0"/>
              <a:chExt cx="2646154" cy="1482278"/>
            </a:xfrm>
          </p:grpSpPr>
          <p:sp>
            <p:nvSpPr>
              <p:cNvPr id="292" name="Notebook"/>
              <p:cNvSpPr/>
              <p:nvPr/>
            </p:nvSpPr>
            <p:spPr>
              <a:xfrm>
                <a:off x="0" y="0"/>
                <a:ext cx="2646155" cy="148227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599" extrusionOk="0">
                    <a:moveTo>
                      <a:pt x="1952" y="0"/>
                    </a:moveTo>
                    <a:cubicBezTo>
                      <a:pt x="1421" y="0"/>
                      <a:pt x="1439" y="771"/>
                      <a:pt x="1439" y="1718"/>
                    </a:cubicBezTo>
                    <a:lnTo>
                      <a:pt x="1439" y="19328"/>
                    </a:lnTo>
                    <a:lnTo>
                      <a:pt x="0" y="19328"/>
                    </a:lnTo>
                    <a:cubicBezTo>
                      <a:pt x="0" y="19328"/>
                      <a:pt x="0" y="19890"/>
                      <a:pt x="0" y="20529"/>
                    </a:cubicBezTo>
                    <a:cubicBezTo>
                      <a:pt x="0" y="21600"/>
                      <a:pt x="190" y="21599"/>
                      <a:pt x="896" y="21599"/>
                    </a:cubicBezTo>
                    <a:lnTo>
                      <a:pt x="10332" y="21599"/>
                    </a:lnTo>
                    <a:lnTo>
                      <a:pt x="11268" y="21599"/>
                    </a:lnTo>
                    <a:lnTo>
                      <a:pt x="20704" y="21599"/>
                    </a:lnTo>
                    <a:cubicBezTo>
                      <a:pt x="21367" y="21599"/>
                      <a:pt x="21600" y="21600"/>
                      <a:pt x="21600" y="20529"/>
                    </a:cubicBezTo>
                    <a:cubicBezTo>
                      <a:pt x="21600" y="19890"/>
                      <a:pt x="21600" y="19328"/>
                      <a:pt x="21600" y="19328"/>
                    </a:cubicBezTo>
                    <a:lnTo>
                      <a:pt x="20161" y="19328"/>
                    </a:lnTo>
                    <a:lnTo>
                      <a:pt x="20161" y="1718"/>
                    </a:lnTo>
                    <a:cubicBezTo>
                      <a:pt x="20161" y="771"/>
                      <a:pt x="20196" y="0"/>
                      <a:pt x="19665" y="0"/>
                    </a:cubicBezTo>
                    <a:lnTo>
                      <a:pt x="1952" y="0"/>
                    </a:lnTo>
                    <a:close/>
                    <a:moveTo>
                      <a:pt x="2475" y="1849"/>
                    </a:moveTo>
                    <a:lnTo>
                      <a:pt x="19125" y="1849"/>
                    </a:lnTo>
                    <a:lnTo>
                      <a:pt x="19125" y="19328"/>
                    </a:lnTo>
                    <a:lnTo>
                      <a:pt x="11268" y="19328"/>
                    </a:lnTo>
                    <a:lnTo>
                      <a:pt x="10332" y="19328"/>
                    </a:lnTo>
                    <a:lnTo>
                      <a:pt x="2475" y="19328"/>
                    </a:lnTo>
                    <a:lnTo>
                      <a:pt x="2475" y="1849"/>
                    </a:ln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3" name="Snake"/>
              <p:cNvSpPr/>
              <p:nvPr/>
            </p:nvSpPr>
            <p:spPr>
              <a:xfrm>
                <a:off x="662014" y="237620"/>
                <a:ext cx="1455824" cy="100703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421" h="19996" extrusionOk="0">
                    <a:moveTo>
                      <a:pt x="8210" y="0"/>
                    </a:moveTo>
                    <a:cubicBezTo>
                      <a:pt x="5882" y="0"/>
                      <a:pt x="3553" y="2189"/>
                      <a:pt x="3553" y="6567"/>
                    </a:cubicBezTo>
                    <a:cubicBezTo>
                      <a:pt x="3553" y="11364"/>
                      <a:pt x="6181" y="12910"/>
                      <a:pt x="6181" y="15814"/>
                    </a:cubicBezTo>
                    <a:cubicBezTo>
                      <a:pt x="6181" y="18718"/>
                      <a:pt x="3778" y="18466"/>
                      <a:pt x="3772" y="16089"/>
                    </a:cubicBezTo>
                    <a:cubicBezTo>
                      <a:pt x="3767" y="10245"/>
                      <a:pt x="758" y="10576"/>
                      <a:pt x="142" y="12786"/>
                    </a:cubicBezTo>
                    <a:cubicBezTo>
                      <a:pt x="-179" y="13935"/>
                      <a:pt x="99" y="14758"/>
                      <a:pt x="442" y="15279"/>
                    </a:cubicBezTo>
                    <a:cubicBezTo>
                      <a:pt x="602" y="15524"/>
                      <a:pt x="902" y="15323"/>
                      <a:pt x="838" y="15005"/>
                    </a:cubicBezTo>
                    <a:cubicBezTo>
                      <a:pt x="747" y="14550"/>
                      <a:pt x="689" y="14015"/>
                      <a:pt x="796" y="13610"/>
                    </a:cubicBezTo>
                    <a:cubicBezTo>
                      <a:pt x="1101" y="12411"/>
                      <a:pt x="2589" y="11835"/>
                      <a:pt x="2519" y="16227"/>
                    </a:cubicBezTo>
                    <a:cubicBezTo>
                      <a:pt x="2434" y="21594"/>
                      <a:pt x="7561" y="20935"/>
                      <a:pt x="7561" y="16037"/>
                    </a:cubicBezTo>
                    <a:cubicBezTo>
                      <a:pt x="7561" y="12562"/>
                      <a:pt x="5308" y="10505"/>
                      <a:pt x="5313" y="6553"/>
                    </a:cubicBezTo>
                    <a:cubicBezTo>
                      <a:pt x="5318" y="1569"/>
                      <a:pt x="10839" y="1272"/>
                      <a:pt x="11074" y="6242"/>
                    </a:cubicBezTo>
                    <a:cubicBezTo>
                      <a:pt x="11240" y="9760"/>
                      <a:pt x="8510" y="10541"/>
                      <a:pt x="8510" y="15301"/>
                    </a:cubicBezTo>
                    <a:cubicBezTo>
                      <a:pt x="8510" y="21456"/>
                      <a:pt x="14355" y="21600"/>
                      <a:pt x="14569" y="15489"/>
                    </a:cubicBezTo>
                    <a:cubicBezTo>
                      <a:pt x="14628" y="13849"/>
                      <a:pt x="15346" y="13185"/>
                      <a:pt x="15924" y="12911"/>
                    </a:cubicBezTo>
                    <a:cubicBezTo>
                      <a:pt x="16015" y="13142"/>
                      <a:pt x="16213" y="13381"/>
                      <a:pt x="16642" y="13337"/>
                    </a:cubicBezTo>
                    <a:cubicBezTo>
                      <a:pt x="17439" y="13250"/>
                      <a:pt x="19001" y="11948"/>
                      <a:pt x="19124" y="11522"/>
                    </a:cubicBezTo>
                    <a:cubicBezTo>
                      <a:pt x="19156" y="11421"/>
                      <a:pt x="19157" y="11212"/>
                      <a:pt x="19136" y="10980"/>
                    </a:cubicBezTo>
                    <a:cubicBezTo>
                      <a:pt x="20506" y="10561"/>
                      <a:pt x="20607" y="10606"/>
                      <a:pt x="21421" y="10678"/>
                    </a:cubicBezTo>
                    <a:cubicBezTo>
                      <a:pt x="21105" y="10461"/>
                      <a:pt x="20657" y="10403"/>
                      <a:pt x="20362" y="10389"/>
                    </a:cubicBezTo>
                    <a:cubicBezTo>
                      <a:pt x="20624" y="10194"/>
                      <a:pt x="21003" y="9862"/>
                      <a:pt x="21207" y="9479"/>
                    </a:cubicBezTo>
                    <a:cubicBezTo>
                      <a:pt x="20506" y="10043"/>
                      <a:pt x="20430" y="10144"/>
                      <a:pt x="19071" y="10599"/>
                    </a:cubicBezTo>
                    <a:cubicBezTo>
                      <a:pt x="19017" y="10368"/>
                      <a:pt x="18937" y="10158"/>
                      <a:pt x="18830" y="10064"/>
                    </a:cubicBezTo>
                    <a:cubicBezTo>
                      <a:pt x="18551" y="9818"/>
                      <a:pt x="16988" y="9514"/>
                      <a:pt x="16126" y="9962"/>
                    </a:cubicBezTo>
                    <a:cubicBezTo>
                      <a:pt x="15661" y="10201"/>
                      <a:pt x="15532" y="10534"/>
                      <a:pt x="15511" y="10779"/>
                    </a:cubicBezTo>
                    <a:cubicBezTo>
                      <a:pt x="14702" y="11040"/>
                      <a:pt x="13044" y="11986"/>
                      <a:pt x="12948" y="15331"/>
                    </a:cubicBezTo>
                    <a:cubicBezTo>
                      <a:pt x="12857" y="18502"/>
                      <a:pt x="10244" y="18407"/>
                      <a:pt x="10153" y="15344"/>
                    </a:cubicBezTo>
                    <a:cubicBezTo>
                      <a:pt x="10056" y="11956"/>
                      <a:pt x="12868" y="10988"/>
                      <a:pt x="12868" y="6567"/>
                    </a:cubicBezTo>
                    <a:cubicBezTo>
                      <a:pt x="12868" y="2189"/>
                      <a:pt x="10539" y="0"/>
                      <a:pt x="8210" y="0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297" name="Group"/>
            <p:cNvGrpSpPr/>
            <p:nvPr/>
          </p:nvGrpSpPr>
          <p:grpSpPr>
            <a:xfrm>
              <a:off x="-1" y="-1"/>
              <a:ext cx="3127267" cy="4582536"/>
              <a:chOff x="0" y="0"/>
              <a:chExt cx="3127265" cy="4582534"/>
            </a:xfrm>
          </p:grpSpPr>
          <p:sp>
            <p:nvSpPr>
              <p:cNvPr id="295" name="Scuba Diving"/>
              <p:cNvSpPr/>
              <p:nvPr/>
            </p:nvSpPr>
            <p:spPr>
              <a:xfrm>
                <a:off x="364993" y="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296" name="Scuba Diving"/>
              <p:cNvSpPr/>
              <p:nvPr/>
            </p:nvSpPr>
            <p:spPr>
              <a:xfrm rot="19500000">
                <a:off x="364993" y="2049900"/>
                <a:ext cx="2397279" cy="2028553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9" h="21600" extrusionOk="0">
                    <a:moveTo>
                      <a:pt x="27" y="0"/>
                    </a:moveTo>
                    <a:cubicBezTo>
                      <a:pt x="-2" y="0"/>
                      <a:pt x="-9" y="21"/>
                      <a:pt x="12" y="46"/>
                    </a:cubicBezTo>
                    <a:lnTo>
                      <a:pt x="3476" y="4041"/>
                    </a:lnTo>
                    <a:cubicBezTo>
                      <a:pt x="3497" y="4066"/>
                      <a:pt x="3534" y="4067"/>
                      <a:pt x="3557" y="4045"/>
                    </a:cubicBezTo>
                    <a:lnTo>
                      <a:pt x="4804" y="2859"/>
                    </a:lnTo>
                    <a:cubicBezTo>
                      <a:pt x="4828" y="2837"/>
                      <a:pt x="4832" y="2797"/>
                      <a:pt x="4816" y="2767"/>
                    </a:cubicBezTo>
                    <a:lnTo>
                      <a:pt x="3338" y="54"/>
                    </a:lnTo>
                    <a:cubicBezTo>
                      <a:pt x="3322" y="24"/>
                      <a:pt x="3285" y="0"/>
                      <a:pt x="3255" y="0"/>
                    </a:cubicBezTo>
                    <a:lnTo>
                      <a:pt x="27" y="0"/>
                    </a:lnTo>
                    <a:close/>
                    <a:moveTo>
                      <a:pt x="5664" y="3808"/>
                    </a:moveTo>
                    <a:cubicBezTo>
                      <a:pt x="5426" y="3789"/>
                      <a:pt x="5183" y="3851"/>
                      <a:pt x="4961" y="4003"/>
                    </a:cubicBezTo>
                    <a:cubicBezTo>
                      <a:pt x="4371" y="4410"/>
                      <a:pt x="4169" y="5307"/>
                      <a:pt x="4513" y="6006"/>
                    </a:cubicBezTo>
                    <a:lnTo>
                      <a:pt x="8002" y="13112"/>
                    </a:lnTo>
                    <a:cubicBezTo>
                      <a:pt x="8032" y="13174"/>
                      <a:pt x="8065" y="13231"/>
                      <a:pt x="8102" y="13286"/>
                    </a:cubicBezTo>
                    <a:cubicBezTo>
                      <a:pt x="8406" y="13862"/>
                      <a:pt x="9072" y="14692"/>
                      <a:pt x="10477" y="15107"/>
                    </a:cubicBezTo>
                    <a:cubicBezTo>
                      <a:pt x="10477" y="15107"/>
                      <a:pt x="14595" y="16600"/>
                      <a:pt x="16639" y="17139"/>
                    </a:cubicBezTo>
                    <a:lnTo>
                      <a:pt x="19943" y="21267"/>
                    </a:lnTo>
                    <a:cubicBezTo>
                      <a:pt x="20120" y="21487"/>
                      <a:pt x="20357" y="21600"/>
                      <a:pt x="20595" y="21600"/>
                    </a:cubicBezTo>
                    <a:cubicBezTo>
                      <a:pt x="20817" y="21600"/>
                      <a:pt x="21041" y="21502"/>
                      <a:pt x="21215" y="21306"/>
                    </a:cubicBezTo>
                    <a:cubicBezTo>
                      <a:pt x="21576" y="20901"/>
                      <a:pt x="21591" y="20228"/>
                      <a:pt x="21249" y="19801"/>
                    </a:cubicBezTo>
                    <a:lnTo>
                      <a:pt x="16405" y="13751"/>
                    </a:lnTo>
                    <a:lnTo>
                      <a:pt x="16386" y="13745"/>
                    </a:lnTo>
                    <a:cubicBezTo>
                      <a:pt x="15765" y="12979"/>
                      <a:pt x="14984" y="12669"/>
                      <a:pt x="14984" y="12669"/>
                    </a:cubicBezTo>
                    <a:lnTo>
                      <a:pt x="9780" y="10906"/>
                    </a:lnTo>
                    <a:lnTo>
                      <a:pt x="6652" y="4532"/>
                    </a:lnTo>
                    <a:cubicBezTo>
                      <a:pt x="6437" y="4095"/>
                      <a:pt x="6060" y="3839"/>
                      <a:pt x="5664" y="3808"/>
                    </a:cubicBezTo>
                    <a:close/>
                    <a:moveTo>
                      <a:pt x="10793" y="7306"/>
                    </a:moveTo>
                    <a:cubicBezTo>
                      <a:pt x="10765" y="7298"/>
                      <a:pt x="10736" y="7320"/>
                      <a:pt x="10729" y="7354"/>
                    </a:cubicBezTo>
                    <a:lnTo>
                      <a:pt x="10195" y="9969"/>
                    </a:lnTo>
                    <a:cubicBezTo>
                      <a:pt x="10188" y="10004"/>
                      <a:pt x="10205" y="10039"/>
                      <a:pt x="10234" y="10047"/>
                    </a:cubicBezTo>
                    <a:lnTo>
                      <a:pt x="14835" y="11365"/>
                    </a:lnTo>
                    <a:cubicBezTo>
                      <a:pt x="14864" y="11373"/>
                      <a:pt x="14893" y="11351"/>
                      <a:pt x="14900" y="11317"/>
                    </a:cubicBezTo>
                    <a:lnTo>
                      <a:pt x="15434" y="8700"/>
                    </a:lnTo>
                    <a:cubicBezTo>
                      <a:pt x="15441" y="8665"/>
                      <a:pt x="15424" y="8632"/>
                      <a:pt x="15395" y="8624"/>
                    </a:cubicBezTo>
                    <a:lnTo>
                      <a:pt x="10793" y="7306"/>
                    </a:lnTo>
                    <a:close/>
                    <a:moveTo>
                      <a:pt x="15896" y="8809"/>
                    </a:moveTo>
                    <a:lnTo>
                      <a:pt x="15339" y="11493"/>
                    </a:lnTo>
                    <a:cubicBezTo>
                      <a:pt x="16070" y="11705"/>
                      <a:pt x="16785" y="11277"/>
                      <a:pt x="16939" y="10536"/>
                    </a:cubicBezTo>
                    <a:cubicBezTo>
                      <a:pt x="17093" y="9796"/>
                      <a:pt x="16626" y="9022"/>
                      <a:pt x="15896" y="8809"/>
                    </a:cubicBezTo>
                    <a:close/>
                    <a:moveTo>
                      <a:pt x="19292" y="11121"/>
                    </a:moveTo>
                    <a:cubicBezTo>
                      <a:pt x="18734" y="11078"/>
                      <a:pt x="18169" y="11353"/>
                      <a:pt x="17800" y="11916"/>
                    </a:cubicBezTo>
                    <a:cubicBezTo>
                      <a:pt x="17211" y="12817"/>
                      <a:pt x="17348" y="14115"/>
                      <a:pt x="18109" y="14813"/>
                    </a:cubicBezTo>
                    <a:cubicBezTo>
                      <a:pt x="18630" y="15292"/>
                      <a:pt x="19309" y="15364"/>
                      <a:pt x="19874" y="15073"/>
                    </a:cubicBezTo>
                    <a:lnTo>
                      <a:pt x="20405" y="15708"/>
                    </a:lnTo>
                    <a:lnTo>
                      <a:pt x="20964" y="14853"/>
                    </a:lnTo>
                    <a:lnTo>
                      <a:pt x="20990" y="14813"/>
                    </a:lnTo>
                    <a:lnTo>
                      <a:pt x="21549" y="13959"/>
                    </a:lnTo>
                    <a:lnTo>
                      <a:pt x="20899" y="13507"/>
                    </a:lnTo>
                    <a:cubicBezTo>
                      <a:pt x="20996" y="12787"/>
                      <a:pt x="20766" y="12028"/>
                      <a:pt x="20245" y="11549"/>
                    </a:cubicBezTo>
                    <a:cubicBezTo>
                      <a:pt x="19959" y="11287"/>
                      <a:pt x="19627" y="11147"/>
                      <a:pt x="19292" y="11121"/>
                    </a:cubicBezTo>
                    <a:close/>
                  </a:path>
                </a:pathLst>
              </a:custGeom>
              <a:solidFill>
                <a:srgbClr val="5DCBC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FFFFFF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  <a:endParaRPr/>
              </a:p>
            </p:txBody>
          </p:sp>
        </p:grp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8242691B-9EBB-E842-3852-9C02E922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Jupyter Notebooks"/>
          <p:cNvSpPr txBox="1"/>
          <p:nvPr/>
        </p:nvSpPr>
        <p:spPr>
          <a:xfrm>
            <a:off x="1179798" y="452723"/>
            <a:ext cx="102657" cy="16414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10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dirty="0"/>
          </a:p>
        </p:txBody>
      </p:sp>
      <p:pic>
        <p:nvPicPr>
          <p:cNvPr id="256" name="Screenshot 2024-04-07 at 20.22.21.png" descr="Screenshot 2024-04-07 at 20.22.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74" y="3388816"/>
            <a:ext cx="14102407" cy="8289202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}"/>
          <p:cNvSpPr txBox="1"/>
          <p:nvPr/>
        </p:nvSpPr>
        <p:spPr>
          <a:xfrm>
            <a:off x="16311438" y="42245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8" name="}"/>
          <p:cNvSpPr txBox="1"/>
          <p:nvPr/>
        </p:nvSpPr>
        <p:spPr>
          <a:xfrm>
            <a:off x="16311438" y="7831307"/>
            <a:ext cx="960121" cy="3065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0"/>
            </a:lvl1pPr>
          </a:lstStyle>
          <a:p>
            <a:r>
              <a:t>}</a:t>
            </a:r>
          </a:p>
        </p:txBody>
      </p:sp>
      <p:sp>
        <p:nvSpPr>
          <p:cNvPr id="259" name="Text (Markdown)"/>
          <p:cNvSpPr txBox="1"/>
          <p:nvPr/>
        </p:nvSpPr>
        <p:spPr>
          <a:xfrm>
            <a:off x="17652116" y="8524639"/>
            <a:ext cx="6400084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Text (Markdown)</a:t>
            </a:r>
          </a:p>
        </p:txBody>
      </p:sp>
      <p:sp>
        <p:nvSpPr>
          <p:cNvPr id="260" name="Code (Python)"/>
          <p:cNvSpPr txBox="1"/>
          <p:nvPr/>
        </p:nvSpPr>
        <p:spPr>
          <a:xfrm>
            <a:off x="17652116" y="5349639"/>
            <a:ext cx="6400084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7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Code (Python)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E77C49-6B57-394E-C0A9-F42E1A6E8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Jupyter</a:t>
            </a:r>
            <a:r>
              <a:rPr lang="en-GB" dirty="0"/>
              <a:t> Notebooks</a:t>
            </a:r>
            <a:endParaRPr lang="en-US" dirty="0"/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Finishing Up"/>
          <p:cNvSpPr txBox="1"/>
          <p:nvPr/>
        </p:nvSpPr>
        <p:spPr>
          <a:xfrm>
            <a:off x="2004438" y="6045200"/>
            <a:ext cx="20375125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>
              <a:defRPr sz="10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Finishing Up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How to import data…"/>
          <p:cNvSpPr txBox="1"/>
          <p:nvPr/>
        </p:nvSpPr>
        <p:spPr>
          <a:xfrm>
            <a:off x="2497619" y="4795966"/>
            <a:ext cx="19376264" cy="5642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To import data there is a range of methods, the easiest is using the package 'pandas'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 err="1"/>
              <a:t>Eg.</a:t>
            </a:r>
            <a:r>
              <a:rPr dirty="0"/>
              <a:t> 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/>
              <a:t>import pandas as pd</a:t>
            </a:r>
          </a:p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dirty="0" err="1"/>
              <a:t>data_frame</a:t>
            </a:r>
            <a:r>
              <a:rPr dirty="0"/>
              <a:t> = </a:t>
            </a:r>
            <a:r>
              <a:rPr dirty="0" err="1"/>
              <a:t>pd.read_csv</a:t>
            </a:r>
            <a:r>
              <a:rPr dirty="0"/>
              <a:t>("&lt;Your File Pathway&gt;")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C653E9-0C5C-39CF-09E3-E652F0C44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How to import data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dditional Resources…"/>
          <p:cNvSpPr txBox="1"/>
          <p:nvPr/>
        </p:nvSpPr>
        <p:spPr>
          <a:xfrm>
            <a:off x="2171046" y="3322007"/>
            <a:ext cx="19376265" cy="8412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This course used (slightly modified) notebooks from Code Storytelling (http://</a:t>
            </a:r>
            <a:r>
              <a:rPr lang="en-GB" dirty="0" err="1"/>
              <a:t>www.codestorytelling.com</a:t>
            </a:r>
            <a:r>
              <a:rPr lang="en-GB" dirty="0"/>
              <a:t>). 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covered badges 1,2,4,5,7, and 8. Consider working through some more of the notebooks and watching some of the videos.</a:t>
            </a:r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lnSpc>
                <a:spcPct val="100000"/>
              </a:lnSpc>
              <a:spcBef>
                <a:spcPts val="0"/>
              </a:spcBef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Think Python is an introductory Python book with many exercises, free to read online: https://</a:t>
            </a:r>
            <a:r>
              <a:rPr lang="en-GB" dirty="0" err="1"/>
              <a:t>greenteapress.com</a:t>
            </a:r>
            <a:r>
              <a:rPr lang="en-GB" dirty="0"/>
              <a:t>/</a:t>
            </a:r>
            <a:r>
              <a:rPr lang="en-GB" dirty="0" err="1"/>
              <a:t>wp</a:t>
            </a:r>
            <a:r>
              <a:rPr lang="en-GB" dirty="0"/>
              <a:t>/think-python-2e/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9BC512-92C9-0FBA-7548-473BCE8E1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Additional Resources</a:t>
            </a:r>
            <a:br>
              <a:rPr lang="en-GB" dirty="0"/>
            </a:br>
            <a:endParaRPr lang="en-US" dirty="0"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Feedback for us...…"/>
          <p:cNvSpPr txBox="1"/>
          <p:nvPr/>
        </p:nvSpPr>
        <p:spPr>
          <a:xfrm>
            <a:off x="2503867" y="5077668"/>
            <a:ext cx="19376265" cy="10259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12700">
              <a:lnSpc>
                <a:spcPct val="100000"/>
              </a:lnSpc>
              <a:spcBef>
                <a:spcPts val="0"/>
              </a:spcBef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130AEE-0F81-6FAC-76A9-F63538E26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497" y="2306183"/>
            <a:ext cx="21971004" cy="2353262"/>
          </a:xfrm>
        </p:spPr>
        <p:txBody>
          <a:bodyPr/>
          <a:lstStyle/>
          <a:p>
            <a:r>
              <a:rPr lang="en-US" dirty="0"/>
              <a:t>Feedback for 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7F866-D618-C59D-A389-E829C545A3F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1206499" y="4659445"/>
            <a:ext cx="21971001" cy="6509297"/>
          </a:xfrm>
        </p:spPr>
        <p:txBody>
          <a:bodyPr>
            <a:normAutofit fontScale="92500" lnSpcReduction="10000"/>
          </a:bodyPr>
          <a:lstStyle/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Feedback for us...</a:t>
            </a:r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 b="1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dirty="0"/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We hope you've enjoyed the course as much as we did.</a:t>
            </a:r>
          </a:p>
          <a:p>
            <a:pPr marL="228600" indent="-228600" defTabSz="12700">
              <a:buSzPct val="100000"/>
              <a:buChar char="•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It is really useful for us to hear your feedback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>
              <a:hlinkClick r:id="rId2"/>
            </a:endParaRP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sz="5800" dirty="0">
                <a:hlinkClick r:id="rId2"/>
              </a:rPr>
              <a:t>https://edin.ac/45BpZFm</a:t>
            </a:r>
            <a:r>
              <a:rPr lang="en-GB" sz="5800" dirty="0"/>
              <a:t> </a:t>
            </a:r>
          </a:p>
          <a:p>
            <a:pPr defTabSz="457200">
              <a:defRPr sz="1600" u="sng">
                <a:solidFill>
                  <a:srgbClr val="46788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lang="en-GB" sz="5800" dirty="0"/>
          </a:p>
          <a:p>
            <a:pPr defTabSz="12700"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  <a:defRPr sz="6000">
                <a:solidFill>
                  <a:srgbClr val="0A1C3E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GB" dirty="0"/>
              <a:t>Should be really quick and only take 5 mins (maximum!)</a:t>
            </a:r>
          </a:p>
          <a:p>
            <a:endParaRPr lang="en-US" dirty="0"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9933</TotalTime>
  <Words>781</Words>
  <Application>Microsoft Macintosh PowerPoint</Application>
  <PresentationFormat>Custom</PresentationFormat>
  <Paragraphs>137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Arial,Sans-Serif</vt:lpstr>
      <vt:lpstr>Integral CF Bold</vt:lpstr>
      <vt:lpstr>Arial</vt:lpstr>
      <vt:lpstr>Calibri</vt:lpstr>
      <vt:lpstr>Helvetica</vt:lpstr>
      <vt:lpstr>Helvetica Neue</vt:lpstr>
      <vt:lpstr>Helvetica Neue Medium</vt:lpstr>
      <vt:lpstr>Source Sans Pro</vt:lpstr>
      <vt:lpstr>Verdana Pro Cond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OCR Workflow</vt:lpstr>
      <vt:lpstr>PowerPoint Presentation</vt:lpstr>
      <vt:lpstr>Activity – Out of the box tools</vt:lpstr>
      <vt:lpstr>Activity – Out of the box tools</vt:lpstr>
      <vt:lpstr>Activity – Out of the box tools</vt:lpstr>
      <vt:lpstr>Activity – Out of the box tools</vt:lpstr>
      <vt:lpstr> Challenges of OCR</vt:lpstr>
      <vt:lpstr>Damaged archive</vt:lpstr>
      <vt:lpstr> Challenges of OCR</vt:lpstr>
      <vt:lpstr>Pictures and multi-languages</vt:lpstr>
      <vt:lpstr> Challenges of OCR</vt:lpstr>
      <vt:lpstr>Cursive fonts, Handwritings</vt:lpstr>
      <vt:lpstr> Challenges of OCR</vt:lpstr>
      <vt:lpstr>Human Errors - example</vt:lpstr>
      <vt:lpstr>Human Errors - example</vt:lpstr>
      <vt:lpstr>Human Errors - example</vt:lpstr>
      <vt:lpstr>PowerPoint Presentation</vt:lpstr>
      <vt:lpstr>PowerPoint Presentation</vt:lpstr>
      <vt:lpstr>Inspect the data– scanning quality</vt:lpstr>
      <vt:lpstr>Inspect the data– scanning quality</vt:lpstr>
      <vt:lpstr>Inspect the image - language</vt:lpstr>
      <vt:lpstr>Inspect the image - typesetting </vt:lpstr>
      <vt:lpstr>Coding – Python or R</vt:lpstr>
      <vt:lpstr>PowerPoint Presentation</vt:lpstr>
      <vt:lpstr>Regex</vt:lpstr>
      <vt:lpstr>Regex</vt:lpstr>
      <vt:lpstr>Regex</vt:lpstr>
      <vt:lpstr>M</vt:lpstr>
      <vt:lpstr>Jupyter Notebooks</vt:lpstr>
      <vt:lpstr>PowerPoint Presentation</vt:lpstr>
      <vt:lpstr>How to import data </vt:lpstr>
      <vt:lpstr>Additional Resources </vt:lpstr>
      <vt:lpstr>Feedback for us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Joy Lan</cp:lastModifiedBy>
  <cp:revision>10</cp:revision>
  <dcterms:modified xsi:type="dcterms:W3CDTF">2026-10-22T22:39:38Z</dcterms:modified>
</cp:coreProperties>
</file>